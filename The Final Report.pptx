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37"/>
  </p:notesMasterIdLst>
  <p:handoutMasterIdLst>
    <p:handoutMasterId r:id="rId38"/>
  </p:handoutMasterIdLst>
  <p:sldIdLst>
    <p:sldId id="261" r:id="rId2"/>
    <p:sldId id="262" r:id="rId3"/>
    <p:sldId id="263" r:id="rId4"/>
    <p:sldId id="265" r:id="rId5"/>
    <p:sldId id="264" r:id="rId6"/>
    <p:sldId id="266" r:id="rId7"/>
    <p:sldId id="267" r:id="rId8"/>
    <p:sldId id="268" r:id="rId9"/>
    <p:sldId id="269" r:id="rId10"/>
    <p:sldId id="292" r:id="rId11"/>
    <p:sldId id="291" r:id="rId12"/>
    <p:sldId id="271" r:id="rId13"/>
    <p:sldId id="270" r:id="rId14"/>
    <p:sldId id="273" r:id="rId15"/>
    <p:sldId id="272" r:id="rId16"/>
    <p:sldId id="274" r:id="rId17"/>
    <p:sldId id="275" r:id="rId18"/>
    <p:sldId id="294" r:id="rId19"/>
    <p:sldId id="277" r:id="rId20"/>
    <p:sldId id="276" r:id="rId21"/>
    <p:sldId id="278" r:id="rId22"/>
    <p:sldId id="279" r:id="rId23"/>
    <p:sldId id="296" r:id="rId24"/>
    <p:sldId id="281" r:id="rId25"/>
    <p:sldId id="280" r:id="rId26"/>
    <p:sldId id="282" r:id="rId27"/>
    <p:sldId id="285" r:id="rId28"/>
    <p:sldId id="286" r:id="rId29"/>
    <p:sldId id="297" r:id="rId30"/>
    <p:sldId id="287" r:id="rId31"/>
    <p:sldId id="283" r:id="rId32"/>
    <p:sldId id="284" r:id="rId33"/>
    <p:sldId id="290" r:id="rId34"/>
    <p:sldId id="288" r:id="rId35"/>
    <p:sldId id="298" r:id="rId36"/>
  </p:sldIdLst>
  <p:sldSz cx="12192000" cy="6858000"/>
  <p:notesSz cx="6858000" cy="9144000"/>
  <p:defaultTextStyle>
    <a:defPPr algn="r" rtl="1">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706" autoAdjust="0"/>
  </p:normalViewPr>
  <p:slideViewPr>
    <p:cSldViewPr snapToGrid="0">
      <p:cViewPr varScale="1">
        <p:scale>
          <a:sx n="71" d="100"/>
          <a:sy n="71" d="100"/>
        </p:scale>
        <p:origin x="1061" y="48"/>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9" d="100"/>
          <a:sy n="69" d="100"/>
        </p:scale>
        <p:origin x="4134"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4400" y="0"/>
            <a:ext cx="2971800" cy="458788"/>
          </a:xfrm>
          <a:prstGeom prst="rect">
            <a:avLst/>
          </a:prstGeom>
        </p:spPr>
        <p:txBody>
          <a:bodyPr vert="horz" lIns="91440" tIns="45720" rIns="91440" bIns="45720" rtlCol="1"/>
          <a:lstStyle>
            <a:lvl1pPr algn="r" rtl="1">
              <a:defRPr sz="1200"/>
            </a:lvl1pPr>
          </a:lstStyle>
          <a:p>
            <a:pPr rtl="1"/>
            <a:endParaRPr lang="ar-SA" dirty="0"/>
          </a:p>
        </p:txBody>
      </p:sp>
      <p:sp>
        <p:nvSpPr>
          <p:cNvPr id="3" name="عنصر نائب للتاريخ 2"/>
          <p:cNvSpPr>
            <a:spLocks noGrp="1"/>
          </p:cNvSpPr>
          <p:nvPr>
            <p:ph type="dt" sz="quarter" idx="1"/>
          </p:nvPr>
        </p:nvSpPr>
        <p:spPr>
          <a:xfrm>
            <a:off x="0" y="0"/>
            <a:ext cx="2971800" cy="458788"/>
          </a:xfrm>
          <a:prstGeom prst="rect">
            <a:avLst/>
          </a:prstGeom>
        </p:spPr>
        <p:txBody>
          <a:bodyPr vert="horz" lIns="91440" tIns="45720" rIns="91440" bIns="45720" rtlCol="1"/>
          <a:lstStyle>
            <a:lvl1pPr algn="r" rtl="1">
              <a:defRPr sz="1200"/>
            </a:lvl1pPr>
          </a:lstStyle>
          <a:p>
            <a:pPr algn="l" rtl="1"/>
            <a:fld id="{B51C88FC-C2B8-4B68-86C0-8CEE05D3F2D6}" type="datetime1">
              <a:rPr lang="ar-SA" smtClean="0"/>
              <a:pPr algn="l" rtl="1"/>
              <a:t>11/10/1447</a:t>
            </a:fld>
            <a:endParaRPr lang="ar-SA" dirty="0"/>
          </a:p>
        </p:txBody>
      </p:sp>
      <p:sp>
        <p:nvSpPr>
          <p:cNvPr id="4" name="عنصر نائب للتذييل 3"/>
          <p:cNvSpPr>
            <a:spLocks noGrp="1"/>
          </p:cNvSpPr>
          <p:nvPr>
            <p:ph type="ftr" sz="quarter" idx="2"/>
          </p:nvPr>
        </p:nvSpPr>
        <p:spPr>
          <a:xfrm>
            <a:off x="3884400" y="8685213"/>
            <a:ext cx="2971800" cy="458787"/>
          </a:xfrm>
          <a:prstGeom prst="rect">
            <a:avLst/>
          </a:prstGeom>
        </p:spPr>
        <p:txBody>
          <a:bodyPr vert="horz" lIns="91440" tIns="45720" rIns="91440" bIns="45720" rtlCol="1" anchor="b"/>
          <a:lstStyle>
            <a:lvl1pPr algn="r" rtl="1">
              <a:defRPr sz="1200"/>
            </a:lvl1pPr>
          </a:lstStyle>
          <a:p>
            <a:pPr rtl="1"/>
            <a:endParaRPr lang="ar-SA" dirty="0"/>
          </a:p>
        </p:txBody>
      </p:sp>
      <p:sp>
        <p:nvSpPr>
          <p:cNvPr id="5" name="عنصر نائب لرقم الشريحة 4"/>
          <p:cNvSpPr>
            <a:spLocks noGrp="1"/>
          </p:cNvSpPr>
          <p:nvPr>
            <p:ph type="sldNum" sz="quarter" idx="3"/>
          </p:nvPr>
        </p:nvSpPr>
        <p:spPr>
          <a:xfrm>
            <a:off x="0" y="8685213"/>
            <a:ext cx="2971800" cy="458787"/>
          </a:xfrm>
          <a:prstGeom prst="rect">
            <a:avLst/>
          </a:prstGeom>
        </p:spPr>
        <p:txBody>
          <a:bodyPr vert="horz" lIns="91440" tIns="45720" rIns="91440" bIns="45720" rtlCol="1" anchor="b"/>
          <a:lstStyle>
            <a:lvl1pPr algn="r" rtl="1">
              <a:defRPr sz="1200"/>
            </a:lvl1pPr>
          </a:lstStyle>
          <a:p>
            <a:pPr algn="l" rtl="1"/>
            <a:fld id="{1604A0D4-B89B-4ADD-AF9E-38636B40EE4E}" type="slidenum">
              <a:rPr lang="ar-SA" smtClean="0"/>
              <a:pPr algn="l" rtl="1"/>
              <a:t>‹#›</a:t>
            </a:fld>
            <a:endParaRPr lang="ar-SA" dirty="0"/>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4400" y="0"/>
            <a:ext cx="2971800" cy="458788"/>
          </a:xfrm>
          <a:prstGeom prst="rect">
            <a:avLst/>
          </a:prstGeom>
        </p:spPr>
        <p:txBody>
          <a:bodyPr vert="horz" lIns="91440" tIns="45720" rIns="91440" bIns="45720" rtlCol="1"/>
          <a:lstStyle>
            <a:lvl1pPr algn="r" rtl="1">
              <a:defRPr sz="1200"/>
            </a:lvl1pPr>
          </a:lstStyle>
          <a:p>
            <a:pPr rtl="1"/>
            <a:endParaRPr lang="ar-SA" noProof="0" dirty="0"/>
          </a:p>
        </p:txBody>
      </p:sp>
      <p:sp>
        <p:nvSpPr>
          <p:cNvPr id="3" name="عنصر نائب للتاريخ 2"/>
          <p:cNvSpPr>
            <a:spLocks noGrp="1"/>
          </p:cNvSpPr>
          <p:nvPr>
            <p:ph type="dt" idx="1"/>
          </p:nvPr>
        </p:nvSpPr>
        <p:spPr>
          <a:xfrm>
            <a:off x="0" y="0"/>
            <a:ext cx="2971800" cy="458788"/>
          </a:xfrm>
          <a:prstGeom prst="rect">
            <a:avLst/>
          </a:prstGeom>
        </p:spPr>
        <p:txBody>
          <a:bodyPr vert="horz" lIns="91440" tIns="45720" rIns="91440" bIns="45720" rtlCol="1"/>
          <a:lstStyle>
            <a:lvl1pPr algn="l" rtl="1">
              <a:defRPr sz="1200"/>
            </a:lvl1pPr>
          </a:lstStyle>
          <a:p>
            <a:fld id="{7516675F-DC07-4DDB-84F0-E973E0B59B83}" type="datetime1">
              <a:rPr lang="ar-SA" smtClean="0"/>
              <a:pPr/>
              <a:t>11/10/1447</a:t>
            </a:fld>
            <a:endParaRPr lang="ar-SA" dirty="0"/>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pPr rtl="1"/>
            <a:endParaRPr lang="ar-SA" noProof="0" dirty="0"/>
          </a:p>
        </p:txBody>
      </p:sp>
      <p:sp>
        <p:nvSpPr>
          <p:cNvPr id="5" name="عنصر نائب للملاحظات 4"/>
          <p:cNvSpPr>
            <a:spLocks noGrp="1"/>
          </p:cNvSpPr>
          <p:nvPr>
            <p:ph type="body" sz="quarter" idx="3"/>
          </p:nvPr>
        </p:nvSpPr>
        <p:spPr>
          <a:xfrm>
            <a:off x="685800" y="4400550"/>
            <a:ext cx="5486400" cy="3086100"/>
          </a:xfrm>
          <a:prstGeom prst="rect">
            <a:avLst/>
          </a:prstGeom>
        </p:spPr>
        <p:txBody>
          <a:bodyPr vert="horz" lIns="91440" tIns="45720" rIns="91440" bIns="45720" rtlCol="1"/>
          <a:lstStyle/>
          <a:p>
            <a:pPr lvl="0" rtl="1"/>
            <a:r>
              <a:rPr lang="ar-SA" noProof="0" dirty="0"/>
              <a:t>انقر لتحرير أنماط النص الرئيسي</a:t>
            </a:r>
          </a:p>
          <a:p>
            <a:pPr lvl="1" rtl="1"/>
            <a:r>
              <a:rPr lang="ar-SA" noProof="0" dirty="0"/>
              <a:t>المستوى الثاني</a:t>
            </a:r>
          </a:p>
          <a:p>
            <a:pPr lvl="2" rtl="1"/>
            <a:r>
              <a:rPr lang="ar-SA" noProof="0" dirty="0"/>
              <a:t>المستوى الثالث</a:t>
            </a:r>
          </a:p>
          <a:p>
            <a:pPr lvl="3" rtl="1"/>
            <a:r>
              <a:rPr lang="ar-SA" noProof="0" dirty="0"/>
              <a:t>المستوى الرابع</a:t>
            </a:r>
          </a:p>
          <a:p>
            <a:pPr lvl="4" rtl="1"/>
            <a:r>
              <a:rPr lang="ar-SA" noProof="0" dirty="0"/>
              <a:t>المستوى الخامس</a:t>
            </a:r>
          </a:p>
        </p:txBody>
      </p:sp>
      <p:sp>
        <p:nvSpPr>
          <p:cNvPr id="6" name="عنصر نائب للتذييل 5"/>
          <p:cNvSpPr>
            <a:spLocks noGrp="1"/>
          </p:cNvSpPr>
          <p:nvPr>
            <p:ph type="ftr" sz="quarter" idx="4"/>
          </p:nvPr>
        </p:nvSpPr>
        <p:spPr>
          <a:xfrm>
            <a:off x="3884400" y="8685213"/>
            <a:ext cx="2971800" cy="458787"/>
          </a:xfrm>
          <a:prstGeom prst="rect">
            <a:avLst/>
          </a:prstGeom>
        </p:spPr>
        <p:txBody>
          <a:bodyPr vert="horz" lIns="91440" tIns="45720" rIns="91440" bIns="45720" rtlCol="1" anchor="b"/>
          <a:lstStyle>
            <a:lvl1pPr algn="r" rtl="1">
              <a:defRPr sz="1200"/>
            </a:lvl1pPr>
          </a:lstStyle>
          <a:p>
            <a:pPr rtl="1"/>
            <a:endParaRPr lang="ar-SA" noProof="0" dirty="0"/>
          </a:p>
        </p:txBody>
      </p:sp>
      <p:sp>
        <p:nvSpPr>
          <p:cNvPr id="7" name="عنصر نائب لرقم الشريحة 6"/>
          <p:cNvSpPr>
            <a:spLocks noGrp="1"/>
          </p:cNvSpPr>
          <p:nvPr>
            <p:ph type="sldNum" sz="quarter" idx="5"/>
          </p:nvPr>
        </p:nvSpPr>
        <p:spPr>
          <a:xfrm>
            <a:off x="0" y="8685213"/>
            <a:ext cx="2971800" cy="458787"/>
          </a:xfrm>
          <a:prstGeom prst="rect">
            <a:avLst/>
          </a:prstGeom>
        </p:spPr>
        <p:txBody>
          <a:bodyPr vert="horz" lIns="91440" tIns="45720" rIns="91440" bIns="45720" rtlCol="1" anchor="b"/>
          <a:lstStyle>
            <a:lvl1pPr algn="l" rtl="1">
              <a:defRPr sz="1200"/>
            </a:lvl1pPr>
          </a:lstStyle>
          <a:p>
            <a:fld id="{82869989-EB00-4EE7-BCB5-25BDC5BB29F8}" type="slidenum">
              <a:rPr lang="ar-SA" smtClean="0"/>
              <a:pPr/>
              <a:t>‹#›</a:t>
            </a:fld>
            <a:endParaRPr lang="ar-SA"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ftr="0"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10"/>
          </p:nvPr>
        </p:nvSpPr>
        <p:spPr/>
        <p:txBody>
          <a:bodyPr/>
          <a:lstStyle/>
          <a:p>
            <a:pPr rtl="1"/>
            <a:fld id="{82869989-EB00-4EE7-BCB5-25BDC5BB29F8}" type="slidenum">
              <a:rPr lang="ar-SA" smtClean="0"/>
              <a:t>1</a:t>
            </a:fld>
            <a:endParaRPr lang="ar-SA" dirty="0"/>
          </a:p>
        </p:txBody>
      </p:sp>
    </p:spTree>
    <p:extLst>
      <p:ext uri="{BB962C8B-B14F-4D97-AF65-F5344CB8AC3E}">
        <p14:creationId xmlns:p14="http://schemas.microsoft.com/office/powerpoint/2010/main" val="935496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العنوان">
    <p:spTree>
      <p:nvGrpSpPr>
        <p:cNvPr id="1" name=""/>
        <p:cNvGrpSpPr/>
        <p:nvPr/>
      </p:nvGrpSpPr>
      <p:grpSpPr>
        <a:xfrm>
          <a:off x="0" y="0"/>
          <a:ext cx="0" cy="0"/>
          <a:chOff x="0" y="0"/>
          <a:chExt cx="0" cy="0"/>
        </a:xfrm>
      </p:grpSpPr>
      <p:grpSp>
        <p:nvGrpSpPr>
          <p:cNvPr id="5" name="المجموعة 4"/>
          <p:cNvGrpSpPr/>
          <p:nvPr userDrawn="1"/>
        </p:nvGrpSpPr>
        <p:grpSpPr bwMode="hidden">
          <a:xfrm flipH="1">
            <a:off x="-1" y="0"/>
            <a:ext cx="12192002" cy="6858000"/>
            <a:chOff x="-1" y="0"/>
            <a:chExt cx="12192002" cy="6858000"/>
          </a:xfrm>
        </p:grpSpPr>
        <p:cxnSp>
          <p:nvCxnSpPr>
            <p:cNvPr id="6" name="موصل مستقيم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موصل مستقيم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موصل مستقيم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موصل مستقيم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موصل المستقيم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رابط مستقيم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موصل مستقيم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موصل مستقيم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رابط مستقيم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موصل مستقيم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موصل مستقيم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موصل مستقيم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موصل مستقيم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موصل مستقيم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موصل مستقيم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رابط مستقيم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المجموعة 22"/>
            <p:cNvGrpSpPr/>
            <p:nvPr userDrawn="1"/>
          </p:nvGrpSpPr>
          <p:grpSpPr bwMode="hidden">
            <a:xfrm>
              <a:off x="-1" y="0"/>
              <a:ext cx="12192001" cy="6858000"/>
              <a:chOff x="-1" y="0"/>
              <a:chExt cx="12192001" cy="6858000"/>
            </a:xfrm>
          </p:grpSpPr>
          <p:cxnSp>
            <p:nvCxnSpPr>
              <p:cNvPr id="41" name="رابط مستقيم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موصل مستقيم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رابط مستقيم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رابط مستقيم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موصل مستقيم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مجموعة 45"/>
              <p:cNvGrpSpPr/>
              <p:nvPr/>
            </p:nvGrpSpPr>
            <p:grpSpPr bwMode="hidden">
              <a:xfrm>
                <a:off x="6327885" y="0"/>
                <a:ext cx="5864115" cy="5898673"/>
                <a:chOff x="6327885" y="0"/>
                <a:chExt cx="5864115" cy="5898673"/>
              </a:xfrm>
            </p:grpSpPr>
            <p:cxnSp>
              <p:nvCxnSpPr>
                <p:cNvPr id="52" name="موصل مستقيم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رابط مستقيم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رابط مستقيم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رابط مستقيم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رابط مستقيم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رابط مستقيم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رابط مستقيم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رابط مستقيم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موصل مستقيم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موصل مستقيم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المجموعة 23"/>
            <p:cNvGrpSpPr/>
            <p:nvPr userDrawn="1"/>
          </p:nvGrpSpPr>
          <p:grpSpPr bwMode="hidden">
            <a:xfrm flipH="1">
              <a:off x="0" y="0"/>
              <a:ext cx="12192001" cy="6858000"/>
              <a:chOff x="-1" y="0"/>
              <a:chExt cx="12192001" cy="6858000"/>
            </a:xfrm>
          </p:grpSpPr>
          <p:cxnSp>
            <p:nvCxnSpPr>
              <p:cNvPr id="25" name="رابط مستقيم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رابط مستقيم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موصل مستقيم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رابط مستقيم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رابط مستقيم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مجموعة 29"/>
              <p:cNvGrpSpPr/>
              <p:nvPr/>
            </p:nvGrpSpPr>
            <p:grpSpPr bwMode="hidden">
              <a:xfrm>
                <a:off x="6327885" y="0"/>
                <a:ext cx="5864115" cy="5898673"/>
                <a:chOff x="6327885" y="0"/>
                <a:chExt cx="5864115" cy="5898673"/>
              </a:xfrm>
            </p:grpSpPr>
            <p:cxnSp>
              <p:nvCxnSpPr>
                <p:cNvPr id="36" name="رابط مستقيم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رابط مستقيم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رابط مستقيم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رابط مستقيم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رابط مستقيم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رابط مستقيم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رابط مستقيم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رابط مستقيم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موصل مستقيم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موصل مستقيم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العنوان 1"/>
          <p:cNvSpPr>
            <a:spLocks noGrp="1"/>
          </p:cNvSpPr>
          <p:nvPr>
            <p:ph type="ctrTitle"/>
          </p:nvPr>
        </p:nvSpPr>
        <p:spPr>
          <a:xfrm flipH="1">
            <a:off x="1293845" y="1909346"/>
            <a:ext cx="9604310" cy="3383280"/>
          </a:xfrm>
        </p:spPr>
        <p:txBody>
          <a:bodyPr rtlCol="1" anchor="b">
            <a:normAutofit/>
          </a:bodyPr>
          <a:lstStyle>
            <a:lvl1pPr algn="r" rtl="1">
              <a:lnSpc>
                <a:spcPct val="100000"/>
              </a:lnSpc>
              <a:defRPr sz="8000" cap="none" baseline="0">
                <a:solidFill>
                  <a:schemeClr val="tx1"/>
                </a:solidFill>
                <a:cs typeface="+mj-cs"/>
              </a:defRPr>
            </a:lvl1pPr>
          </a:lstStyle>
          <a:p>
            <a:pPr rtl="1"/>
            <a:r>
              <a:rPr lang="ar-SA" noProof="0"/>
              <a:t>انقر لتحرير نمط عنوان الشكل الرئيسي</a:t>
            </a:r>
            <a:endParaRPr lang="ar-SA" noProof="0" dirty="0"/>
          </a:p>
        </p:txBody>
      </p:sp>
      <p:sp>
        <p:nvSpPr>
          <p:cNvPr id="3" name="عنوان فرعي 2"/>
          <p:cNvSpPr>
            <a:spLocks noGrp="1"/>
          </p:cNvSpPr>
          <p:nvPr>
            <p:ph type="subTitle" idx="1"/>
          </p:nvPr>
        </p:nvSpPr>
        <p:spPr>
          <a:xfrm flipH="1">
            <a:off x="1293845" y="5432564"/>
            <a:ext cx="9604310" cy="457200"/>
          </a:xfrm>
        </p:spPr>
        <p:txBody>
          <a:bodyPr rtlCol="1">
            <a:normAutofit/>
          </a:bodyPr>
          <a:lstStyle>
            <a:lvl1pPr marL="0" indent="0" algn="r" rtl="1">
              <a:spcBef>
                <a:spcPts val="0"/>
              </a:spcBef>
              <a:buNone/>
              <a:defRPr sz="2000" b="0">
                <a:solidFill>
                  <a:schemeClr val="accent1">
                    <a:lumMod val="75000"/>
                  </a:schemeClr>
                </a:solidFill>
                <a:cs typeface="+mj-cs"/>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r>
              <a:rPr lang="ar-SA"/>
              <a:t>انقر لتحرير نمط العنوان الفرعي للشكل الرئيسي</a:t>
            </a:r>
            <a:endParaRPr lang="ar-SA" dirty="0"/>
          </a:p>
        </p:txBody>
      </p:sp>
      <p:cxnSp>
        <p:nvCxnSpPr>
          <p:cNvPr id="58" name="موصل مستقيم 57"/>
          <p:cNvCxnSpPr>
            <a:cxnSpLocks/>
          </p:cNvCxnSpPr>
          <p:nvPr userDrawn="1"/>
        </p:nvCxnSpPr>
        <p:spPr>
          <a:xfrm flipH="1">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العنوان والمحتوى">
    <p:spTree>
      <p:nvGrpSpPr>
        <p:cNvPr id="1" name=""/>
        <p:cNvGrpSpPr/>
        <p:nvPr/>
      </p:nvGrpSpPr>
      <p:grpSpPr>
        <a:xfrm>
          <a:off x="0" y="0"/>
          <a:ext cx="0" cy="0"/>
          <a:chOff x="0" y="0"/>
          <a:chExt cx="0" cy="0"/>
        </a:xfrm>
      </p:grpSpPr>
      <p:sp>
        <p:nvSpPr>
          <p:cNvPr id="2" name="العنوان 1"/>
          <p:cNvSpPr>
            <a:spLocks noGrp="1"/>
          </p:cNvSpPr>
          <p:nvPr>
            <p:ph type="title"/>
          </p:nvPr>
        </p:nvSpPr>
        <p:spPr>
          <a:xfrm flipH="1">
            <a:off x="1295400" y="503853"/>
            <a:ext cx="9601200" cy="1142385"/>
          </a:xfrm>
        </p:spPr>
        <p:txBody>
          <a:bodyPr rtlCol="1"/>
          <a:lstStyle>
            <a:lvl1pPr algn="r" rtl="1">
              <a:defRPr/>
            </a:lvl1pPr>
          </a:lstStyle>
          <a:p>
            <a:pPr rtl="1"/>
            <a:r>
              <a:rPr lang="ar-SA" noProof="0"/>
              <a:t>انقر لتحرير نمط عنوان الشكل الرئيسي</a:t>
            </a:r>
            <a:endParaRPr lang="ar-SA" noProof="0" dirty="0"/>
          </a:p>
        </p:txBody>
      </p:sp>
      <p:sp>
        <p:nvSpPr>
          <p:cNvPr id="3" name="عنصر نائب للمحتوى 2"/>
          <p:cNvSpPr>
            <a:spLocks noGrp="1"/>
          </p:cNvSpPr>
          <p:nvPr>
            <p:ph idx="1"/>
          </p:nvPr>
        </p:nvSpPr>
        <p:spPr>
          <a:xfrm flipH="1">
            <a:off x="1295400" y="1981201"/>
            <a:ext cx="9601200" cy="3809999"/>
          </a:xfrm>
        </p:spPr>
        <p:txBody>
          <a:bodyPr rtlCol="1"/>
          <a:lstStyle>
            <a:lvl1pPr algn="r" rtl="1">
              <a:defRPr/>
            </a:lvl1pPr>
            <a:lvl2pPr algn="r" rtl="1">
              <a:defRPr/>
            </a:lvl2pPr>
            <a:lvl3pPr algn="r" rtl="1">
              <a:defRPr/>
            </a:lvl3pPr>
            <a:lvl4pPr algn="r" rtl="1">
              <a:defRPr/>
            </a:lvl4pPr>
            <a:lvl5pPr algn="r" rtl="1">
              <a:defRPr/>
            </a:lvl5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5" name="عنصر نائب للتذييل 4"/>
          <p:cNvSpPr>
            <a:spLocks noGrp="1"/>
          </p:cNvSpPr>
          <p:nvPr>
            <p:ph type="ftr" sz="quarter" idx="11"/>
          </p:nvPr>
        </p:nvSpPr>
        <p:spPr>
          <a:xfrm flipH="1">
            <a:off x="5454369" y="6289679"/>
            <a:ext cx="6128030" cy="222436"/>
          </a:xfrm>
        </p:spPr>
        <p:txBody>
          <a:bodyPr rtlCol="1"/>
          <a:lstStyle>
            <a:lvl1pPr algn="r" rtl="1">
              <a:defRPr/>
            </a:lvl1pPr>
          </a:lstStyle>
          <a:p>
            <a:pPr rtl="1"/>
            <a:r>
              <a:rPr lang="ar-SA" noProof="0" dirty="0"/>
              <a:t>إضافة تذييل</a:t>
            </a:r>
          </a:p>
        </p:txBody>
      </p:sp>
      <p:sp>
        <p:nvSpPr>
          <p:cNvPr id="4" name="عنصر نائب للتاريخ 3"/>
          <p:cNvSpPr>
            <a:spLocks noGrp="1"/>
          </p:cNvSpPr>
          <p:nvPr>
            <p:ph type="dt" sz="half" idx="10"/>
          </p:nvPr>
        </p:nvSpPr>
        <p:spPr>
          <a:xfrm flipH="1">
            <a:off x="1932012" y="6289679"/>
            <a:ext cx="965946" cy="222436"/>
          </a:xfrm>
        </p:spPr>
        <p:txBody>
          <a:bodyPr rtlCol="1"/>
          <a:lstStyle>
            <a:lvl1pPr algn="l" rtl="1">
              <a:defRPr/>
            </a:lvl1pPr>
          </a:lstStyle>
          <a:p>
            <a:fld id="{553260B2-D180-4EBA-BF07-FB4A587DDD0A}" type="datetime1">
              <a:rPr lang="ar-SA" smtClean="0"/>
              <a:pPr/>
              <a:t>11/10/1447</a:t>
            </a:fld>
            <a:endParaRPr lang="ar-SA" dirty="0"/>
          </a:p>
        </p:txBody>
      </p:sp>
      <p:sp>
        <p:nvSpPr>
          <p:cNvPr id="6" name="عنصر نائب لرقم الشريحة 5"/>
          <p:cNvSpPr>
            <a:spLocks noGrp="1"/>
          </p:cNvSpPr>
          <p:nvPr>
            <p:ph type="sldNum" sz="quarter" idx="12"/>
          </p:nvPr>
        </p:nvSpPr>
        <p:spPr>
          <a:xfrm flipH="1">
            <a:off x="607807" y="6289679"/>
            <a:ext cx="918882" cy="222436"/>
          </a:xfrm>
        </p:spPr>
        <p:txBody>
          <a:bodyPr rtlCol="1"/>
          <a:lstStyle>
            <a:lvl1pPr algn="l" rtl="1">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المجموعة 6"/>
          <p:cNvGrpSpPr/>
          <p:nvPr userDrawn="1"/>
        </p:nvGrpSpPr>
        <p:grpSpPr bwMode="hidden">
          <a:xfrm flipH="1">
            <a:off x="-1" y="0"/>
            <a:ext cx="12192002" cy="6858000"/>
            <a:chOff x="-1" y="0"/>
            <a:chExt cx="12192002" cy="6858000"/>
          </a:xfrm>
        </p:grpSpPr>
        <p:cxnSp>
          <p:nvCxnSpPr>
            <p:cNvPr id="8" name="موصل مستقيم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موصل مستقيم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موصل مستقيم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موصل المستقيم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رابط مستقيم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موصل مستقيم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موصل مستقيم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رابط مستقيم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موصل مستقيم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موصل مستقيم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موصل مستقيم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موصل مستقيم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موصل مستقيم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موصل مستقيم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رابط مستقيم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موصل مستقيم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المجموعة 23"/>
            <p:cNvGrpSpPr/>
            <p:nvPr userDrawn="1"/>
          </p:nvGrpSpPr>
          <p:grpSpPr bwMode="hidden">
            <a:xfrm>
              <a:off x="-1" y="0"/>
              <a:ext cx="12192001" cy="6858000"/>
              <a:chOff x="-1" y="0"/>
              <a:chExt cx="12192001" cy="6858000"/>
            </a:xfrm>
          </p:grpSpPr>
          <p:cxnSp>
            <p:nvCxnSpPr>
              <p:cNvPr id="42" name="موصل مستقيم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رابط مستقيم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رابط مستقيم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رابط مستقيم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رابط مستقيم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المجموعة 46"/>
              <p:cNvGrpSpPr/>
              <p:nvPr/>
            </p:nvGrpSpPr>
            <p:grpSpPr bwMode="hidden">
              <a:xfrm>
                <a:off x="6327885" y="0"/>
                <a:ext cx="5864115" cy="5898673"/>
                <a:chOff x="6327885" y="0"/>
                <a:chExt cx="5864115" cy="5898673"/>
              </a:xfrm>
            </p:grpSpPr>
            <p:cxnSp>
              <p:nvCxnSpPr>
                <p:cNvPr id="53" name="موصل مستقيم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رابط مستقيم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رابط مستقيم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رابط مستقيم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رابط مستقيم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رابط مستقيم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رابط مستقيم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موصل مستقيم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موصل مستقيم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موصل مستقيم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المجموعة 24"/>
            <p:cNvGrpSpPr/>
            <p:nvPr userDrawn="1"/>
          </p:nvGrpSpPr>
          <p:grpSpPr bwMode="hidden">
            <a:xfrm flipH="1">
              <a:off x="0" y="0"/>
              <a:ext cx="12192001" cy="6858000"/>
              <a:chOff x="-1" y="0"/>
              <a:chExt cx="12192001" cy="6858000"/>
            </a:xfrm>
          </p:grpSpPr>
          <p:cxnSp>
            <p:nvCxnSpPr>
              <p:cNvPr id="26" name="موصل مستقيم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موصل مستقيم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رابط مستقيم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رابط مستقيم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موصل مستقيم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المجموعة 30"/>
              <p:cNvGrpSpPr/>
              <p:nvPr/>
            </p:nvGrpSpPr>
            <p:grpSpPr bwMode="hidden">
              <a:xfrm>
                <a:off x="6327885" y="0"/>
                <a:ext cx="5864115" cy="5898673"/>
                <a:chOff x="6327885" y="0"/>
                <a:chExt cx="5864115" cy="5898673"/>
              </a:xfrm>
            </p:grpSpPr>
            <p:cxnSp>
              <p:nvCxnSpPr>
                <p:cNvPr id="37" name="موصل مستقيم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رابط مستقيم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رابط مستقيم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رابط مستقيم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رابط مستقيم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موصل مستقيم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رابط مستقيم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موصل مستقيم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موصل مستقيم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رابط مستقيم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العنوان 1"/>
          <p:cNvSpPr>
            <a:spLocks noGrp="1"/>
          </p:cNvSpPr>
          <p:nvPr>
            <p:ph type="title"/>
          </p:nvPr>
        </p:nvSpPr>
        <p:spPr>
          <a:xfrm flipH="1">
            <a:off x="1295400" y="2541573"/>
            <a:ext cx="9601200" cy="2743200"/>
          </a:xfrm>
        </p:spPr>
        <p:txBody>
          <a:bodyPr rtlCol="1" anchor="b">
            <a:normAutofit/>
          </a:bodyPr>
          <a:lstStyle>
            <a:lvl1pPr algn="r" rtl="1">
              <a:lnSpc>
                <a:spcPct val="85000"/>
              </a:lnSpc>
              <a:defRPr sz="6000" cap="none" baseline="0">
                <a:solidFill>
                  <a:schemeClr val="tx1"/>
                </a:solidFill>
              </a:defRPr>
            </a:lvl1pPr>
          </a:lstStyle>
          <a:p>
            <a:pPr rtl="1"/>
            <a:r>
              <a:rPr lang="ar-SA" noProof="0"/>
              <a:t>انقر لتحرير نمط عنوان الشكل الرئيسي</a:t>
            </a:r>
            <a:endParaRPr lang="ar-SA" noProof="0" dirty="0"/>
          </a:p>
        </p:txBody>
      </p:sp>
      <p:sp>
        <p:nvSpPr>
          <p:cNvPr id="3" name="عنصر نائب للنص 2"/>
          <p:cNvSpPr>
            <a:spLocks noGrp="1"/>
          </p:cNvSpPr>
          <p:nvPr>
            <p:ph type="body" idx="1"/>
          </p:nvPr>
        </p:nvSpPr>
        <p:spPr>
          <a:xfrm flipH="1">
            <a:off x="1295400" y="5431536"/>
            <a:ext cx="9601200" cy="457200"/>
          </a:xfrm>
        </p:spPr>
        <p:txBody>
          <a:bodyPr rtlCol="1">
            <a:normAutofit/>
          </a:bodyPr>
          <a:lstStyle>
            <a:lvl1pPr marL="0" indent="0" algn="r" rtl="1">
              <a:spcBef>
                <a:spcPts val="0"/>
              </a:spcBef>
              <a:buNone/>
              <a:defRPr sz="2000" b="0">
                <a:solidFill>
                  <a:schemeClr val="tx1"/>
                </a:solidFill>
              </a:defRPr>
            </a:lvl1pPr>
            <a:lvl2pPr marL="457200" indent="0" algn="r" rtl="1">
              <a:buNone/>
              <a:defRPr sz="2000"/>
            </a:lvl2pPr>
            <a:lvl3pPr marL="914400" indent="0" algn="r" rtl="1">
              <a:buNone/>
              <a:defRPr sz="1800"/>
            </a:lvl3pPr>
            <a:lvl4pPr marL="1371600" indent="0" algn="r" rtl="1">
              <a:buNone/>
              <a:defRPr sz="1600"/>
            </a:lvl4pPr>
            <a:lvl5pPr marL="1828800" indent="0" algn="r" rtl="1">
              <a:buNone/>
              <a:defRPr sz="1600"/>
            </a:lvl5pPr>
            <a:lvl6pPr marL="2286000" indent="0" algn="r" rtl="1">
              <a:buNone/>
              <a:defRPr sz="1600"/>
            </a:lvl6pPr>
            <a:lvl7pPr marL="2743200" indent="0" algn="r" rtl="1">
              <a:buNone/>
              <a:defRPr sz="1600"/>
            </a:lvl7pPr>
            <a:lvl8pPr marL="3200400" indent="0" algn="r" rtl="1">
              <a:buNone/>
              <a:defRPr sz="1600"/>
            </a:lvl8pPr>
            <a:lvl9pPr marL="3657600" indent="0" algn="r" rtl="1">
              <a:buNone/>
              <a:defRPr sz="1600"/>
            </a:lvl9pPr>
          </a:lstStyle>
          <a:p>
            <a:pPr lvl="0" rtl="1"/>
            <a:r>
              <a:rPr lang="ar-SA" noProof="0"/>
              <a:t>انقر لتحرير أنماط نص الشكل الرئيسي</a:t>
            </a:r>
          </a:p>
        </p:txBody>
      </p:sp>
      <p:cxnSp>
        <p:nvCxnSpPr>
          <p:cNvPr id="58" name="موصل مستقيم 57"/>
          <p:cNvCxnSpPr>
            <a:cxnSpLocks/>
          </p:cNvCxnSpPr>
          <p:nvPr userDrawn="1"/>
        </p:nvCxnSpPr>
        <p:spPr>
          <a:xfrm flipH="1">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العنوان 1"/>
          <p:cNvSpPr>
            <a:spLocks noGrp="1"/>
          </p:cNvSpPr>
          <p:nvPr>
            <p:ph type="title"/>
          </p:nvPr>
        </p:nvSpPr>
        <p:spPr>
          <a:xfrm flipH="1">
            <a:off x="1295400" y="503853"/>
            <a:ext cx="9601200" cy="1142385"/>
          </a:xfrm>
        </p:spPr>
        <p:txBody>
          <a:bodyPr rtlCol="1"/>
          <a:lstStyle>
            <a:lvl1pPr algn="r" rtl="1">
              <a:defRPr/>
            </a:lvl1pPr>
          </a:lstStyle>
          <a:p>
            <a:pPr rtl="1"/>
            <a:r>
              <a:rPr lang="ar-SA" noProof="0"/>
              <a:t>انقر لتحرير نمط عنوان الشكل الرئيسي</a:t>
            </a:r>
            <a:endParaRPr lang="ar-SA" noProof="0" dirty="0"/>
          </a:p>
        </p:txBody>
      </p:sp>
      <p:sp>
        <p:nvSpPr>
          <p:cNvPr id="3" name="عنصر نائب للمحتوى 2"/>
          <p:cNvSpPr>
            <a:spLocks noGrp="1"/>
          </p:cNvSpPr>
          <p:nvPr>
            <p:ph sz="half" idx="1"/>
          </p:nvPr>
        </p:nvSpPr>
        <p:spPr>
          <a:xfrm flipH="1">
            <a:off x="6324600" y="1981199"/>
            <a:ext cx="4572000" cy="3810001"/>
          </a:xfrm>
        </p:spPr>
        <p:txBody>
          <a:bodyPr rtlCol="1">
            <a:normAutofit/>
          </a:bodyPr>
          <a:lstStyle>
            <a:lvl1pPr algn="r" rtl="1">
              <a:defRPr sz="2000"/>
            </a:lvl1pPr>
            <a:lvl2pPr algn="r" rtl="1">
              <a:defRPr sz="1800"/>
            </a:lvl2pPr>
            <a:lvl3pPr algn="r" rtl="1">
              <a:defRPr sz="1600"/>
            </a:lvl3pPr>
            <a:lvl4pPr algn="r" rtl="1">
              <a:defRPr sz="1400"/>
            </a:lvl4pPr>
            <a:lvl5pPr algn="r" rtl="1">
              <a:defRPr sz="1400"/>
            </a:lvl5pPr>
            <a:lvl6pPr algn="r" rtl="1">
              <a:defRPr sz="1800"/>
            </a:lvl6pPr>
            <a:lvl7pPr algn="r" rtl="1">
              <a:defRPr sz="1800"/>
            </a:lvl7pPr>
            <a:lvl8pPr algn="r" rtl="1">
              <a:defRPr sz="1800"/>
            </a:lvl8pPr>
            <a:lvl9pPr algn="r" rtl="1">
              <a:defRPr sz="1800"/>
            </a:lvl9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4" name="عنصر نائب للمحتوى 3"/>
          <p:cNvSpPr>
            <a:spLocks noGrp="1"/>
          </p:cNvSpPr>
          <p:nvPr>
            <p:ph sz="half" idx="2"/>
          </p:nvPr>
        </p:nvSpPr>
        <p:spPr>
          <a:xfrm flipH="1">
            <a:off x="1295400" y="1981199"/>
            <a:ext cx="4572000" cy="3810001"/>
          </a:xfrm>
        </p:spPr>
        <p:txBody>
          <a:bodyPr rtlCol="1">
            <a:normAutofit/>
          </a:bodyPr>
          <a:lstStyle>
            <a:lvl1pPr algn="r" rtl="1">
              <a:defRPr sz="2000"/>
            </a:lvl1pPr>
            <a:lvl2pPr algn="r" rtl="1">
              <a:defRPr sz="1800"/>
            </a:lvl2pPr>
            <a:lvl3pPr algn="r" rtl="1">
              <a:defRPr sz="1600"/>
            </a:lvl3pPr>
            <a:lvl4pPr algn="r" rtl="1">
              <a:defRPr sz="1400"/>
            </a:lvl4pPr>
            <a:lvl5pPr algn="r" rtl="1">
              <a:defRPr sz="1400"/>
            </a:lvl5pPr>
            <a:lvl6pPr algn="r" rtl="1">
              <a:defRPr sz="1800"/>
            </a:lvl6pPr>
            <a:lvl7pPr algn="r" rtl="1">
              <a:defRPr sz="1800"/>
            </a:lvl7pPr>
            <a:lvl8pPr algn="r" rtl="1">
              <a:defRPr sz="1800"/>
            </a:lvl8pPr>
            <a:lvl9pPr algn="r" rtl="1">
              <a:defRPr sz="1800"/>
            </a:lvl9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6" name="عنصر نائب للتذييل 5"/>
          <p:cNvSpPr>
            <a:spLocks noGrp="1"/>
          </p:cNvSpPr>
          <p:nvPr>
            <p:ph type="ftr" sz="quarter" idx="11"/>
          </p:nvPr>
        </p:nvSpPr>
        <p:spPr>
          <a:xfrm flipH="1">
            <a:off x="5454369" y="6289679"/>
            <a:ext cx="6128030" cy="222436"/>
          </a:xfrm>
        </p:spPr>
        <p:txBody>
          <a:bodyPr rtlCol="1"/>
          <a:lstStyle>
            <a:lvl1pPr algn="r" rtl="1">
              <a:defRPr/>
            </a:lvl1pPr>
          </a:lstStyle>
          <a:p>
            <a:pPr rtl="1"/>
            <a:r>
              <a:rPr lang="ar-SA" noProof="0" dirty="0"/>
              <a:t>إضافة تذييل</a:t>
            </a:r>
          </a:p>
        </p:txBody>
      </p:sp>
      <p:sp>
        <p:nvSpPr>
          <p:cNvPr id="5" name="عنصر نائب للتاريخ 4"/>
          <p:cNvSpPr>
            <a:spLocks noGrp="1"/>
          </p:cNvSpPr>
          <p:nvPr>
            <p:ph type="dt" sz="half" idx="10"/>
          </p:nvPr>
        </p:nvSpPr>
        <p:spPr>
          <a:xfrm flipH="1">
            <a:off x="1932012" y="6289679"/>
            <a:ext cx="965946" cy="222436"/>
          </a:xfrm>
        </p:spPr>
        <p:txBody>
          <a:bodyPr rtlCol="1"/>
          <a:lstStyle>
            <a:lvl1pPr algn="l" rtl="1">
              <a:defRPr/>
            </a:lvl1pPr>
          </a:lstStyle>
          <a:p>
            <a:fld id="{2231A680-8429-4981-B99E-6E5CCA2B3D5F}" type="datetime1">
              <a:rPr lang="ar-SA" smtClean="0"/>
              <a:pPr/>
              <a:t>11/10/1447</a:t>
            </a:fld>
            <a:endParaRPr lang="ar-SA" dirty="0"/>
          </a:p>
        </p:txBody>
      </p:sp>
      <p:sp>
        <p:nvSpPr>
          <p:cNvPr id="7" name="عنصر نائب لرقم الشريحة 6"/>
          <p:cNvSpPr>
            <a:spLocks noGrp="1"/>
          </p:cNvSpPr>
          <p:nvPr>
            <p:ph type="sldNum" sz="quarter" idx="12"/>
          </p:nvPr>
        </p:nvSpPr>
        <p:spPr>
          <a:xfrm flipH="1">
            <a:off x="607807" y="6289679"/>
            <a:ext cx="918882" cy="222436"/>
          </a:xfrm>
        </p:spPr>
        <p:txBody>
          <a:bodyPr rtlCol="1"/>
          <a:lstStyle>
            <a:lvl1pPr algn="l" rtl="1">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العنوان 1"/>
          <p:cNvSpPr>
            <a:spLocks noGrp="1"/>
          </p:cNvSpPr>
          <p:nvPr>
            <p:ph type="title"/>
          </p:nvPr>
        </p:nvSpPr>
        <p:spPr>
          <a:xfrm flipH="1">
            <a:off x="1295400" y="503853"/>
            <a:ext cx="9601200" cy="1142385"/>
          </a:xfrm>
        </p:spPr>
        <p:txBody>
          <a:bodyPr rtlCol="1"/>
          <a:lstStyle>
            <a:lvl1pPr algn="r" rtl="1">
              <a:defRPr/>
            </a:lvl1pPr>
          </a:lstStyle>
          <a:p>
            <a:pPr rtl="1"/>
            <a:r>
              <a:rPr lang="ar-SA" noProof="0"/>
              <a:t>انقر لتحرير نمط عنوان الشكل الرئيسي</a:t>
            </a:r>
            <a:endParaRPr lang="ar-SA" noProof="0" dirty="0"/>
          </a:p>
        </p:txBody>
      </p:sp>
      <p:sp>
        <p:nvSpPr>
          <p:cNvPr id="3" name="عنصر نائب للنص 2"/>
          <p:cNvSpPr>
            <a:spLocks noGrp="1"/>
          </p:cNvSpPr>
          <p:nvPr>
            <p:ph type="body" idx="1"/>
          </p:nvPr>
        </p:nvSpPr>
        <p:spPr>
          <a:xfrm flipH="1">
            <a:off x="6324600" y="1818322"/>
            <a:ext cx="4572000" cy="641350"/>
          </a:xfrm>
        </p:spPr>
        <p:txBody>
          <a:bodyPr rtlCol="1" anchor="ctr">
            <a:normAutofit/>
          </a:bodyPr>
          <a:lstStyle>
            <a:lvl1pPr marL="0" indent="0" algn="r" rtl="1">
              <a:spcBef>
                <a:spcPts val="0"/>
              </a:spcBef>
              <a:buNone/>
              <a:defRPr sz="2000" b="0">
                <a:solidFill>
                  <a:schemeClr val="accent1"/>
                </a:solidFill>
              </a:defRPr>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SA" noProof="0"/>
              <a:t>انقر لتحرير أنماط نص الشكل الرئيسي</a:t>
            </a:r>
          </a:p>
        </p:txBody>
      </p:sp>
      <p:sp>
        <p:nvSpPr>
          <p:cNvPr id="4" name="عنصر نائب للمحتوى 3"/>
          <p:cNvSpPr>
            <a:spLocks noGrp="1"/>
          </p:cNvSpPr>
          <p:nvPr>
            <p:ph sz="half" idx="2"/>
          </p:nvPr>
        </p:nvSpPr>
        <p:spPr>
          <a:xfrm flipH="1">
            <a:off x="6324600" y="2503713"/>
            <a:ext cx="4572000" cy="3287487"/>
          </a:xfrm>
        </p:spPr>
        <p:txBody>
          <a:bodyPr rtlCol="1">
            <a:normAutofit/>
          </a:bodyPr>
          <a:lstStyle>
            <a:lvl1pPr algn="r" rtl="1">
              <a:defRPr sz="2000"/>
            </a:lvl1pPr>
            <a:lvl2pPr algn="r" rtl="1">
              <a:defRPr sz="1800"/>
            </a:lvl2pPr>
            <a:lvl3pPr algn="r" rtl="1">
              <a:defRPr sz="1600"/>
            </a:lvl3pPr>
            <a:lvl4pPr algn="r" rtl="1">
              <a:defRPr sz="1400"/>
            </a:lvl4pPr>
            <a:lvl5pPr algn="r" rtl="1">
              <a:defRPr sz="1400"/>
            </a:lvl5pPr>
            <a:lvl6pPr algn="r" rtl="1">
              <a:defRPr sz="1600"/>
            </a:lvl6pPr>
            <a:lvl7pPr algn="r" rtl="1">
              <a:defRPr sz="1600"/>
            </a:lvl7pPr>
            <a:lvl8pPr algn="r" rtl="1">
              <a:defRPr sz="1600"/>
            </a:lvl8pPr>
            <a:lvl9pPr algn="r" rtl="1">
              <a:defRPr sz="1600"/>
            </a:lvl9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5" name="عنصر نائب للنص 4"/>
          <p:cNvSpPr>
            <a:spLocks noGrp="1"/>
          </p:cNvSpPr>
          <p:nvPr>
            <p:ph type="body" sz="quarter" idx="3"/>
          </p:nvPr>
        </p:nvSpPr>
        <p:spPr>
          <a:xfrm flipH="1">
            <a:off x="1295400" y="1818322"/>
            <a:ext cx="4572000" cy="641350"/>
          </a:xfrm>
        </p:spPr>
        <p:txBody>
          <a:bodyPr rtlCol="1" anchor="ctr">
            <a:normAutofit/>
          </a:bodyPr>
          <a:lstStyle>
            <a:lvl1pPr marL="0" indent="0" algn="r" rtl="1">
              <a:spcBef>
                <a:spcPts val="0"/>
              </a:spcBef>
              <a:buNone/>
              <a:defRPr sz="2000" b="0">
                <a:solidFill>
                  <a:schemeClr val="accent1"/>
                </a:solidFill>
              </a:defRPr>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SA" noProof="0"/>
              <a:t>انقر لتحرير أنماط نص الشكل الرئيسي</a:t>
            </a:r>
          </a:p>
        </p:txBody>
      </p:sp>
      <p:sp>
        <p:nvSpPr>
          <p:cNvPr id="6" name="عنصر نائب للمحتوى 5"/>
          <p:cNvSpPr>
            <a:spLocks noGrp="1"/>
          </p:cNvSpPr>
          <p:nvPr>
            <p:ph sz="quarter" idx="4"/>
          </p:nvPr>
        </p:nvSpPr>
        <p:spPr>
          <a:xfrm flipH="1">
            <a:off x="1295400" y="2503713"/>
            <a:ext cx="4572000" cy="3287487"/>
          </a:xfrm>
        </p:spPr>
        <p:txBody>
          <a:bodyPr rtlCol="1">
            <a:normAutofit/>
          </a:bodyPr>
          <a:lstStyle>
            <a:lvl1pPr algn="r" rtl="1">
              <a:defRPr sz="2000"/>
            </a:lvl1pPr>
            <a:lvl2pPr algn="r" rtl="1">
              <a:defRPr sz="1800"/>
            </a:lvl2pPr>
            <a:lvl3pPr algn="r" rtl="1">
              <a:defRPr sz="1600"/>
            </a:lvl3pPr>
            <a:lvl4pPr algn="r" rtl="1">
              <a:defRPr sz="1400"/>
            </a:lvl4pPr>
            <a:lvl5pPr algn="r" rtl="1">
              <a:defRPr sz="1400"/>
            </a:lvl5pPr>
            <a:lvl6pPr algn="r" rtl="1">
              <a:defRPr sz="1600"/>
            </a:lvl6pPr>
            <a:lvl7pPr algn="r" rtl="1">
              <a:defRPr sz="1600"/>
            </a:lvl7pPr>
            <a:lvl8pPr algn="r" rtl="1">
              <a:defRPr sz="1600"/>
            </a:lvl8pPr>
            <a:lvl9pPr algn="r" rtl="1">
              <a:defRPr sz="1600"/>
            </a:lvl9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8" name="عنصر نائب للتذييل 7"/>
          <p:cNvSpPr>
            <a:spLocks noGrp="1"/>
          </p:cNvSpPr>
          <p:nvPr>
            <p:ph type="ftr" sz="quarter" idx="11"/>
          </p:nvPr>
        </p:nvSpPr>
        <p:spPr>
          <a:xfrm flipH="1">
            <a:off x="5454369" y="6289679"/>
            <a:ext cx="6128030" cy="222436"/>
          </a:xfrm>
        </p:spPr>
        <p:txBody>
          <a:bodyPr rtlCol="1"/>
          <a:lstStyle>
            <a:lvl1pPr algn="r" rtl="1">
              <a:defRPr/>
            </a:lvl1pPr>
          </a:lstStyle>
          <a:p>
            <a:pPr rtl="1"/>
            <a:r>
              <a:rPr lang="ar-SA" noProof="0" dirty="0"/>
              <a:t>إضافة تذييل</a:t>
            </a:r>
          </a:p>
        </p:txBody>
      </p:sp>
      <p:sp>
        <p:nvSpPr>
          <p:cNvPr id="7" name="عنصر نائب للتاريخ 6"/>
          <p:cNvSpPr>
            <a:spLocks noGrp="1"/>
          </p:cNvSpPr>
          <p:nvPr>
            <p:ph type="dt" sz="half" idx="10"/>
          </p:nvPr>
        </p:nvSpPr>
        <p:spPr>
          <a:xfrm flipH="1">
            <a:off x="1932012" y="6289679"/>
            <a:ext cx="965946" cy="222436"/>
          </a:xfrm>
        </p:spPr>
        <p:txBody>
          <a:bodyPr rtlCol="1"/>
          <a:lstStyle>
            <a:lvl1pPr algn="l" rtl="1">
              <a:defRPr/>
            </a:lvl1pPr>
          </a:lstStyle>
          <a:p>
            <a:fld id="{C8B2362E-9518-4BFC-AE65-EC7DE104DC5D}" type="datetime1">
              <a:rPr lang="ar-SA" smtClean="0"/>
              <a:pPr/>
              <a:t>11/10/1447</a:t>
            </a:fld>
            <a:endParaRPr lang="ar-SA" dirty="0"/>
          </a:p>
        </p:txBody>
      </p:sp>
      <p:sp>
        <p:nvSpPr>
          <p:cNvPr id="9" name="عنصر نائب لرقم الشريحة 8"/>
          <p:cNvSpPr>
            <a:spLocks noGrp="1"/>
          </p:cNvSpPr>
          <p:nvPr>
            <p:ph type="sldNum" sz="quarter" idx="12"/>
          </p:nvPr>
        </p:nvSpPr>
        <p:spPr>
          <a:xfrm flipH="1">
            <a:off x="607807" y="6289679"/>
            <a:ext cx="918882" cy="222436"/>
          </a:xfrm>
        </p:spPr>
        <p:txBody>
          <a:bodyPr rtlCol="1"/>
          <a:lstStyle>
            <a:lvl1pPr algn="l" rtl="1">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العنوان فقط">
    <p:spTree>
      <p:nvGrpSpPr>
        <p:cNvPr id="1" name=""/>
        <p:cNvGrpSpPr/>
        <p:nvPr/>
      </p:nvGrpSpPr>
      <p:grpSpPr>
        <a:xfrm>
          <a:off x="0" y="0"/>
          <a:ext cx="0" cy="0"/>
          <a:chOff x="0" y="0"/>
          <a:chExt cx="0" cy="0"/>
        </a:xfrm>
      </p:grpSpPr>
      <p:sp>
        <p:nvSpPr>
          <p:cNvPr id="2" name="العنوان 1"/>
          <p:cNvSpPr>
            <a:spLocks noGrp="1"/>
          </p:cNvSpPr>
          <p:nvPr>
            <p:ph type="title"/>
          </p:nvPr>
        </p:nvSpPr>
        <p:spPr>
          <a:xfrm flipH="1">
            <a:off x="1295400" y="503853"/>
            <a:ext cx="9601200" cy="1142385"/>
          </a:xfrm>
        </p:spPr>
        <p:txBody>
          <a:bodyPr rtlCol="1"/>
          <a:lstStyle>
            <a:lvl1pPr algn="r" rtl="1">
              <a:defRPr/>
            </a:lvl1pPr>
          </a:lstStyle>
          <a:p>
            <a:pPr rtl="1"/>
            <a:r>
              <a:rPr lang="ar-SA" noProof="0"/>
              <a:t>انقر لتحرير نمط عنوان الشكل الرئيسي</a:t>
            </a:r>
            <a:endParaRPr lang="ar-SA" noProof="0" dirty="0"/>
          </a:p>
        </p:txBody>
      </p:sp>
      <p:sp>
        <p:nvSpPr>
          <p:cNvPr id="4" name="عنصر نائب للتذييل 3"/>
          <p:cNvSpPr>
            <a:spLocks noGrp="1"/>
          </p:cNvSpPr>
          <p:nvPr>
            <p:ph type="ftr" sz="quarter" idx="11"/>
          </p:nvPr>
        </p:nvSpPr>
        <p:spPr>
          <a:xfrm flipH="1">
            <a:off x="5454369" y="6289679"/>
            <a:ext cx="6128030" cy="222436"/>
          </a:xfrm>
        </p:spPr>
        <p:txBody>
          <a:bodyPr rtlCol="1"/>
          <a:lstStyle>
            <a:lvl1pPr algn="r" rtl="1">
              <a:defRPr/>
            </a:lvl1pPr>
          </a:lstStyle>
          <a:p>
            <a:pPr rtl="1"/>
            <a:r>
              <a:rPr lang="ar-SA" noProof="0" dirty="0"/>
              <a:t>إضافة تذييل</a:t>
            </a:r>
          </a:p>
        </p:txBody>
      </p:sp>
      <p:sp>
        <p:nvSpPr>
          <p:cNvPr id="3" name="عنصر نائب للتاريخ 2"/>
          <p:cNvSpPr>
            <a:spLocks noGrp="1"/>
          </p:cNvSpPr>
          <p:nvPr>
            <p:ph type="dt" sz="half" idx="10"/>
          </p:nvPr>
        </p:nvSpPr>
        <p:spPr>
          <a:xfrm flipH="1">
            <a:off x="1932012" y="6289679"/>
            <a:ext cx="965946" cy="222436"/>
          </a:xfrm>
        </p:spPr>
        <p:txBody>
          <a:bodyPr rtlCol="1"/>
          <a:lstStyle>
            <a:lvl1pPr algn="l" rtl="1">
              <a:defRPr/>
            </a:lvl1pPr>
          </a:lstStyle>
          <a:p>
            <a:fld id="{8251A12C-5027-4E0A-B3C0-9CD894CCBC69}" type="datetime1">
              <a:rPr lang="ar-SA" smtClean="0"/>
              <a:pPr/>
              <a:t>11/10/1447</a:t>
            </a:fld>
            <a:endParaRPr lang="ar-SA" dirty="0"/>
          </a:p>
        </p:txBody>
      </p:sp>
      <p:sp>
        <p:nvSpPr>
          <p:cNvPr id="5" name="عنصر نائب لرقم الشريحة 4"/>
          <p:cNvSpPr>
            <a:spLocks noGrp="1"/>
          </p:cNvSpPr>
          <p:nvPr>
            <p:ph type="sldNum" sz="quarter" idx="12"/>
          </p:nvPr>
        </p:nvSpPr>
        <p:spPr>
          <a:xfrm flipH="1">
            <a:off x="607807" y="6289679"/>
            <a:ext cx="918882" cy="222436"/>
          </a:xfrm>
        </p:spPr>
        <p:txBody>
          <a:bodyPr rtlCol="1"/>
          <a:lstStyle>
            <a:lvl1pPr algn="l" rtl="1">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فارغ">
    <p:spTree>
      <p:nvGrpSpPr>
        <p:cNvPr id="1" name=""/>
        <p:cNvGrpSpPr/>
        <p:nvPr/>
      </p:nvGrpSpPr>
      <p:grpSpPr>
        <a:xfrm>
          <a:off x="0" y="0"/>
          <a:ext cx="0" cy="0"/>
          <a:chOff x="0" y="0"/>
          <a:chExt cx="0" cy="0"/>
        </a:xfrm>
      </p:grpSpPr>
      <p:grpSp>
        <p:nvGrpSpPr>
          <p:cNvPr id="161" name="المجموعة 160"/>
          <p:cNvGrpSpPr/>
          <p:nvPr userDrawn="1"/>
        </p:nvGrpSpPr>
        <p:grpSpPr bwMode="hidden">
          <a:xfrm flipH="1">
            <a:off x="-1" y="0"/>
            <a:ext cx="12192002" cy="6858000"/>
            <a:chOff x="-1" y="0"/>
            <a:chExt cx="12192002" cy="6858000"/>
          </a:xfrm>
        </p:grpSpPr>
        <p:cxnSp>
          <p:nvCxnSpPr>
            <p:cNvPr id="162" name="موصل مستقيم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موصل مستقيم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موصل مستقيم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موصل مستقيم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موصل مستقيم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موصل مستقيم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موصل مستقيم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موصل مستقيم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موصل مستقيم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موصل مستقيم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موصل مستقيم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موصل مستقيم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موصل مستقيم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موصل مستقيم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موصل مستقيم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موصل مستقيم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المجموعة 177"/>
            <p:cNvGrpSpPr/>
            <p:nvPr userDrawn="1"/>
          </p:nvGrpSpPr>
          <p:grpSpPr bwMode="hidden">
            <a:xfrm>
              <a:off x="-1" y="0"/>
              <a:ext cx="12192001" cy="6858000"/>
              <a:chOff x="-1" y="0"/>
              <a:chExt cx="12192001" cy="6858000"/>
            </a:xfrm>
          </p:grpSpPr>
          <p:cxnSp>
            <p:nvCxnSpPr>
              <p:cNvPr id="196" name="موصل مستقيم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رابط مستقيم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رابط مستقيم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رابط مستقيم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موصل مستقيم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المجموعة 200"/>
              <p:cNvGrpSpPr/>
              <p:nvPr/>
            </p:nvGrpSpPr>
            <p:grpSpPr bwMode="hidden">
              <a:xfrm>
                <a:off x="6327885" y="0"/>
                <a:ext cx="5864115" cy="5898673"/>
                <a:chOff x="6327885" y="0"/>
                <a:chExt cx="5864115" cy="5898673"/>
              </a:xfrm>
            </p:grpSpPr>
            <p:cxnSp>
              <p:nvCxnSpPr>
                <p:cNvPr id="207" name="موصل مستقيم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موصل مستقيم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موصل مستقيم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رابط مستقيم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موصل مستقيم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موصل مستقيم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رابط مستقيم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موصل مستقيم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موصل مستقيم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موصل مستقيم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المجموعة 178"/>
            <p:cNvGrpSpPr/>
            <p:nvPr userDrawn="1"/>
          </p:nvGrpSpPr>
          <p:grpSpPr bwMode="hidden">
            <a:xfrm flipH="1">
              <a:off x="0" y="0"/>
              <a:ext cx="12192001" cy="6858000"/>
              <a:chOff x="-1" y="0"/>
              <a:chExt cx="12192001" cy="6858000"/>
            </a:xfrm>
          </p:grpSpPr>
          <p:cxnSp>
            <p:nvCxnSpPr>
              <p:cNvPr id="180" name="موصل مستقيم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موصل مستقيم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رابط مستقيم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موصل مستقيم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موصل مستقيم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المجموعة 184"/>
              <p:cNvGrpSpPr/>
              <p:nvPr/>
            </p:nvGrpSpPr>
            <p:grpSpPr bwMode="hidden">
              <a:xfrm>
                <a:off x="6327885" y="0"/>
                <a:ext cx="5864115" cy="5898673"/>
                <a:chOff x="6327885" y="0"/>
                <a:chExt cx="5864115" cy="5898673"/>
              </a:xfrm>
            </p:grpSpPr>
            <p:cxnSp>
              <p:nvCxnSpPr>
                <p:cNvPr id="191" name="رابط مستقيم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موصل مستقيم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موصل مستقيم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موصل مستقيم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موصل مستقيم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موصل مستقيم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موصل مستقيم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موصل مستقيم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موصل مستقيم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موصل مستقيم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عنصر نائب للتذييل 212"/>
          <p:cNvSpPr>
            <a:spLocks noGrp="1"/>
          </p:cNvSpPr>
          <p:nvPr>
            <p:ph type="ftr" sz="quarter" idx="11"/>
          </p:nvPr>
        </p:nvSpPr>
        <p:spPr>
          <a:xfrm flipH="1">
            <a:off x="5454369" y="6289679"/>
            <a:ext cx="6128030" cy="222436"/>
          </a:xfrm>
        </p:spPr>
        <p:txBody>
          <a:bodyPr rtlCol="1"/>
          <a:lstStyle>
            <a:lvl1pPr algn="r" rtl="1">
              <a:defRPr/>
            </a:lvl1pPr>
          </a:lstStyle>
          <a:p>
            <a:pPr rtl="1"/>
            <a:r>
              <a:rPr lang="ar-SA" noProof="0" dirty="0"/>
              <a:t>إضافة تذييل</a:t>
            </a:r>
          </a:p>
        </p:txBody>
      </p:sp>
      <p:sp>
        <p:nvSpPr>
          <p:cNvPr id="212" name="عنصر نائب للتاريخ 211"/>
          <p:cNvSpPr>
            <a:spLocks noGrp="1"/>
          </p:cNvSpPr>
          <p:nvPr>
            <p:ph type="dt" sz="half" idx="10"/>
          </p:nvPr>
        </p:nvSpPr>
        <p:spPr>
          <a:xfrm flipH="1">
            <a:off x="1932012" y="6289679"/>
            <a:ext cx="965946" cy="222436"/>
          </a:xfrm>
        </p:spPr>
        <p:txBody>
          <a:bodyPr rtlCol="1"/>
          <a:lstStyle>
            <a:lvl1pPr algn="l" rtl="1">
              <a:defRPr/>
            </a:lvl1pPr>
          </a:lstStyle>
          <a:p>
            <a:fld id="{60FEAC81-253B-4960-B6BB-C73862BFA571}" type="datetime1">
              <a:rPr lang="ar-SA" smtClean="0"/>
              <a:pPr/>
              <a:t>11/10/1447</a:t>
            </a:fld>
            <a:endParaRPr lang="ar-SA" dirty="0"/>
          </a:p>
        </p:txBody>
      </p:sp>
      <p:sp>
        <p:nvSpPr>
          <p:cNvPr id="214" name="عنصر نائب لرقم الشريحة 213"/>
          <p:cNvSpPr>
            <a:spLocks noGrp="1"/>
          </p:cNvSpPr>
          <p:nvPr>
            <p:ph type="sldNum" sz="quarter" idx="12"/>
          </p:nvPr>
        </p:nvSpPr>
        <p:spPr>
          <a:xfrm flipH="1">
            <a:off x="607807" y="6289679"/>
            <a:ext cx="918882" cy="222436"/>
          </a:xfrm>
        </p:spPr>
        <p:txBody>
          <a:bodyPr rtlCol="1"/>
          <a:lstStyle>
            <a:lvl1pPr algn="l" rtl="1">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مع تسمية توضيحية">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المجموعة 8"/>
          <p:cNvGrpSpPr/>
          <p:nvPr userDrawn="1"/>
        </p:nvGrpSpPr>
        <p:grpSpPr bwMode="hidden">
          <a:xfrm flipH="1">
            <a:off x="-1" y="0"/>
            <a:ext cx="12192002" cy="6858000"/>
            <a:chOff x="-1" y="0"/>
            <a:chExt cx="12192002" cy="6858000"/>
          </a:xfrm>
        </p:grpSpPr>
        <p:cxnSp>
          <p:nvCxnSpPr>
            <p:cNvPr id="10" name="موصل مستقيم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موصل المستقيم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رابط مستقيم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موصل مستقيم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موصل مستقيم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رابط مستقيم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موصل مستقيم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موصل مستقيم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موصل مستقيم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موصل مستقيم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موصل مستقيم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موصل مستقيم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رابط مستقيم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موصل مستقيم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موصل مستقيم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رابط مستقيم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المجموعة 25"/>
            <p:cNvGrpSpPr/>
            <p:nvPr userDrawn="1"/>
          </p:nvGrpSpPr>
          <p:grpSpPr bwMode="hidden">
            <a:xfrm>
              <a:off x="-1" y="0"/>
              <a:ext cx="12192001" cy="6858000"/>
              <a:chOff x="-1" y="0"/>
              <a:chExt cx="12192001" cy="6858000"/>
            </a:xfrm>
          </p:grpSpPr>
          <p:cxnSp>
            <p:nvCxnSpPr>
              <p:cNvPr id="44" name="موصل مستقيم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رابط مستقيم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رابط مستقيم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رابط مستقيم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رابط مستقيم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مجموعة 48"/>
              <p:cNvGrpSpPr/>
              <p:nvPr/>
            </p:nvGrpSpPr>
            <p:grpSpPr bwMode="hidden">
              <a:xfrm>
                <a:off x="6327885" y="0"/>
                <a:ext cx="5864115" cy="5898673"/>
                <a:chOff x="6327885" y="0"/>
                <a:chExt cx="5864115" cy="5898673"/>
              </a:xfrm>
            </p:grpSpPr>
            <p:cxnSp>
              <p:nvCxnSpPr>
                <p:cNvPr id="55" name="موصل مستقيم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رابط مستقيم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رابط مستقيم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موصل مستقيم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موصل مستقيم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موصل مستقيم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موصل مستقيم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رابط مستقيم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رابط مستقيم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موصل مستقيم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مجموعة 26"/>
            <p:cNvGrpSpPr/>
            <p:nvPr userDrawn="1"/>
          </p:nvGrpSpPr>
          <p:grpSpPr bwMode="hidden">
            <a:xfrm flipH="1">
              <a:off x="0" y="0"/>
              <a:ext cx="12192001" cy="6858000"/>
              <a:chOff x="-1" y="0"/>
              <a:chExt cx="12192001" cy="6858000"/>
            </a:xfrm>
          </p:grpSpPr>
          <p:cxnSp>
            <p:nvCxnSpPr>
              <p:cNvPr id="28" name="رابط مستقيم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رابط مستقيم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رابط مستقيم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رابط مستقيم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موصل مستقيم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مجموعة 32"/>
              <p:cNvGrpSpPr/>
              <p:nvPr/>
            </p:nvGrpSpPr>
            <p:grpSpPr bwMode="hidden">
              <a:xfrm>
                <a:off x="6327885" y="0"/>
                <a:ext cx="5864115" cy="5898673"/>
                <a:chOff x="6327885" y="0"/>
                <a:chExt cx="5864115" cy="5898673"/>
              </a:xfrm>
            </p:grpSpPr>
            <p:cxnSp>
              <p:nvCxnSpPr>
                <p:cNvPr id="39" name="رابط مستقيم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رابط مستقيم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رابط مستقيم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موصل مستقيم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رابط مستقيم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موصل مستقيم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موصل مستقيم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رابط مستقيم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رابط مستقيم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رابط مستقيم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مستطيل 6"/>
          <p:cNvSpPr/>
          <p:nvPr userDrawn="1"/>
        </p:nvSpPr>
        <p:spPr>
          <a:xfrm flipH="1">
            <a:off x="487680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ar-SA" noProof="0" dirty="0">
              <a:cs typeface="+mj-cs"/>
            </a:endParaRPr>
          </a:p>
        </p:txBody>
      </p:sp>
      <p:sp>
        <p:nvSpPr>
          <p:cNvPr id="2" name="العنوان 1"/>
          <p:cNvSpPr>
            <a:spLocks noGrp="1"/>
          </p:cNvSpPr>
          <p:nvPr>
            <p:ph type="title"/>
          </p:nvPr>
        </p:nvSpPr>
        <p:spPr>
          <a:xfrm flipH="1">
            <a:off x="621248" y="571500"/>
            <a:ext cx="3657600" cy="2197100"/>
          </a:xfrm>
        </p:spPr>
        <p:txBody>
          <a:bodyPr rtlCol="1" anchor="b">
            <a:normAutofit/>
          </a:bodyPr>
          <a:lstStyle>
            <a:lvl1pPr algn="r" rtl="1">
              <a:defRPr sz="2600">
                <a:solidFill>
                  <a:schemeClr val="bg1"/>
                </a:solidFill>
                <a:cs typeface="+mj-cs"/>
              </a:defRPr>
            </a:lvl1pPr>
          </a:lstStyle>
          <a:p>
            <a:pPr rtl="1"/>
            <a:r>
              <a:rPr lang="ar-SA" noProof="0"/>
              <a:t>انقر لتحرير نمط عنوان الشكل الرئيسي</a:t>
            </a:r>
            <a:endParaRPr lang="ar-SA" noProof="0" dirty="0"/>
          </a:p>
        </p:txBody>
      </p:sp>
      <p:sp>
        <p:nvSpPr>
          <p:cNvPr id="3" name="عنصر نائب للمحتوى 2"/>
          <p:cNvSpPr>
            <a:spLocks noGrp="1"/>
          </p:cNvSpPr>
          <p:nvPr>
            <p:ph idx="1"/>
          </p:nvPr>
        </p:nvSpPr>
        <p:spPr>
          <a:xfrm flipH="1">
            <a:off x="5430883" y="571500"/>
            <a:ext cx="6217920" cy="5715000"/>
          </a:xfrm>
        </p:spPr>
        <p:txBody>
          <a:bodyPr rtlCol="1">
            <a:normAutofit/>
          </a:bodyPr>
          <a:lstStyle>
            <a:lvl1pPr algn="r" rtl="1">
              <a:defRPr sz="2000">
                <a:cs typeface="+mj-cs"/>
              </a:defRPr>
            </a:lvl1pPr>
            <a:lvl2pPr algn="r" rtl="1">
              <a:defRPr sz="1800">
                <a:cs typeface="+mj-cs"/>
              </a:defRPr>
            </a:lvl2pPr>
            <a:lvl3pPr algn="r" rtl="1">
              <a:defRPr sz="1600">
                <a:cs typeface="+mj-cs"/>
              </a:defRPr>
            </a:lvl3pPr>
            <a:lvl4pPr algn="r" rtl="1">
              <a:defRPr sz="1400">
                <a:cs typeface="+mj-cs"/>
              </a:defRPr>
            </a:lvl4pPr>
            <a:lvl5pPr algn="r" rtl="1">
              <a:defRPr sz="1400">
                <a:cs typeface="+mj-cs"/>
              </a:defRPr>
            </a:lvl5pPr>
            <a:lvl6pPr algn="r" rtl="1">
              <a:defRPr sz="2000"/>
            </a:lvl6pPr>
            <a:lvl7pPr algn="r" rtl="1">
              <a:defRPr sz="2000"/>
            </a:lvl7pPr>
            <a:lvl8pPr algn="r" rtl="1">
              <a:defRPr sz="2000"/>
            </a:lvl8pPr>
            <a:lvl9pPr algn="r" rtl="1">
              <a:defRPr sz="2000"/>
            </a:lvl9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4" name="عنصر نائب للنص 3"/>
          <p:cNvSpPr>
            <a:spLocks noGrp="1"/>
          </p:cNvSpPr>
          <p:nvPr>
            <p:ph type="body" sz="half" idx="2"/>
          </p:nvPr>
        </p:nvSpPr>
        <p:spPr>
          <a:xfrm flipH="1">
            <a:off x="621248" y="2995012"/>
            <a:ext cx="3657600" cy="2285950"/>
          </a:xfrm>
        </p:spPr>
        <p:txBody>
          <a:bodyPr rtlCol="1">
            <a:normAutofit/>
          </a:bodyPr>
          <a:lstStyle>
            <a:lvl1pPr marL="0" indent="0" algn="r" rtl="1">
              <a:spcBef>
                <a:spcPts val="1200"/>
              </a:spcBef>
              <a:buNone/>
              <a:defRPr sz="1600">
                <a:solidFill>
                  <a:schemeClr val="bg1"/>
                </a:solidFill>
                <a:cs typeface="+mj-cs"/>
              </a:defRPr>
            </a:lvl1pPr>
            <a:lvl2pPr marL="457200" indent="0" algn="r" rtl="1">
              <a:buNone/>
              <a:defRPr sz="1400"/>
            </a:lvl2pPr>
            <a:lvl3pPr marL="914400" indent="0" algn="r" rtl="1">
              <a:buNone/>
              <a:defRPr sz="1200"/>
            </a:lvl3pPr>
            <a:lvl4pPr marL="1371600" indent="0" algn="r" rtl="1">
              <a:buNone/>
              <a:defRPr sz="1000"/>
            </a:lvl4pPr>
            <a:lvl5pPr marL="1828800" indent="0" algn="r" rtl="1">
              <a:buNone/>
              <a:defRPr sz="1000"/>
            </a:lvl5pPr>
            <a:lvl6pPr marL="2286000" indent="0" algn="r" rtl="1">
              <a:buNone/>
              <a:defRPr sz="1000"/>
            </a:lvl6pPr>
            <a:lvl7pPr marL="2743200" indent="0" algn="r" rtl="1">
              <a:buNone/>
              <a:defRPr sz="1000"/>
            </a:lvl7pPr>
            <a:lvl8pPr marL="3200400" indent="0" algn="r" rtl="1">
              <a:buNone/>
              <a:defRPr sz="1000"/>
            </a:lvl8pPr>
            <a:lvl9pPr marL="3657600" indent="0" algn="r" rtl="1">
              <a:buNone/>
              <a:defRPr sz="1000"/>
            </a:lvl9pPr>
          </a:lstStyle>
          <a:p>
            <a:pPr lvl="0" rtl="1"/>
            <a:r>
              <a:rPr lang="ar-SA" noProof="0"/>
              <a:t>انقر لتحرير أنماط نص الشكل الرئيسي</a:t>
            </a:r>
          </a:p>
        </p:txBody>
      </p:sp>
      <p:cxnSp>
        <p:nvCxnSpPr>
          <p:cNvPr id="60" name="رابط مستقيم 59"/>
          <p:cNvCxnSpPr>
            <a:cxnSpLocks/>
          </p:cNvCxnSpPr>
          <p:nvPr userDrawn="1"/>
        </p:nvCxnSpPr>
        <p:spPr>
          <a:xfrm flipH="1">
            <a:off x="609600"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عنصر نائب للتذييل 5"/>
          <p:cNvSpPr>
            <a:spLocks noGrp="1"/>
          </p:cNvSpPr>
          <p:nvPr>
            <p:ph type="ftr" sz="quarter" idx="11"/>
          </p:nvPr>
        </p:nvSpPr>
        <p:spPr>
          <a:xfrm flipH="1">
            <a:off x="5454369" y="6289679"/>
            <a:ext cx="6128030" cy="222436"/>
          </a:xfrm>
        </p:spPr>
        <p:txBody>
          <a:bodyPr rtlCol="1"/>
          <a:lstStyle>
            <a:lvl1pPr algn="r" rtl="1">
              <a:defRPr>
                <a:cs typeface="+mj-cs"/>
              </a:defRPr>
            </a:lvl1pPr>
          </a:lstStyle>
          <a:p>
            <a:r>
              <a:rPr lang="ar-SA"/>
              <a:t>إضافة تذييل</a:t>
            </a:r>
            <a:endParaRPr lang="ar-SA" dirty="0"/>
          </a:p>
        </p:txBody>
      </p:sp>
      <p:sp>
        <p:nvSpPr>
          <p:cNvPr id="5" name="عنصر نائب للتاريخ 4"/>
          <p:cNvSpPr>
            <a:spLocks noGrp="1"/>
          </p:cNvSpPr>
          <p:nvPr>
            <p:ph type="dt" sz="half" idx="10"/>
          </p:nvPr>
        </p:nvSpPr>
        <p:spPr>
          <a:xfrm flipH="1">
            <a:off x="1932012" y="6289679"/>
            <a:ext cx="965946" cy="222436"/>
          </a:xfrm>
        </p:spPr>
        <p:txBody>
          <a:bodyPr rtlCol="1"/>
          <a:lstStyle>
            <a:lvl1pPr algn="l" rtl="1">
              <a:defRPr>
                <a:solidFill>
                  <a:schemeClr val="bg1"/>
                </a:solidFill>
                <a:cs typeface="+mj-cs"/>
              </a:defRPr>
            </a:lvl1pPr>
          </a:lstStyle>
          <a:p>
            <a:fld id="{77E8DDBB-AC64-4611-8A1B-A5665600CC63}" type="datetime1">
              <a:rPr lang="ar-SA" smtClean="0"/>
              <a:pPr/>
              <a:t>11/10/1447</a:t>
            </a:fld>
            <a:endParaRPr lang="ar-SA" dirty="0"/>
          </a:p>
        </p:txBody>
      </p:sp>
      <p:sp>
        <p:nvSpPr>
          <p:cNvPr id="8" name="عنصر نائب لرقم الشريحة 7"/>
          <p:cNvSpPr>
            <a:spLocks noGrp="1"/>
          </p:cNvSpPr>
          <p:nvPr>
            <p:ph type="sldNum" sz="quarter" idx="12"/>
          </p:nvPr>
        </p:nvSpPr>
        <p:spPr>
          <a:xfrm flipH="1">
            <a:off x="607807" y="6289679"/>
            <a:ext cx="918882" cy="222436"/>
          </a:xfrm>
        </p:spPr>
        <p:txBody>
          <a:bodyPr rtlCol="1"/>
          <a:lstStyle>
            <a:lvl1pPr algn="l" rtl="1">
              <a:defRPr>
                <a:solidFill>
                  <a:schemeClr val="bg1"/>
                </a:solidFill>
                <a:cs typeface="+mj-cs"/>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المجموعة 7"/>
          <p:cNvGrpSpPr/>
          <p:nvPr/>
        </p:nvGrpSpPr>
        <p:grpSpPr bwMode="hidden">
          <a:xfrm flipH="1">
            <a:off x="-1" y="0"/>
            <a:ext cx="12192002" cy="6858000"/>
            <a:chOff x="-1" y="0"/>
            <a:chExt cx="12192002" cy="6858000"/>
          </a:xfrm>
        </p:grpSpPr>
        <p:cxnSp>
          <p:nvCxnSpPr>
            <p:cNvPr id="9" name="موصل مستقيم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موصل مستقيم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موصل المستقيم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رابط مستقيم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موصل مستقيم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موصل مستقيم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رابط مستقيم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موصل مستقيم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موصل مستقيم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موصل مستقيم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موصل مستقيم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موصل مستقيم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موصل مستقيم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رابط مستقيم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موصل مستقيم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موصل مستقيم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المجموعة 24"/>
            <p:cNvGrpSpPr/>
            <p:nvPr/>
          </p:nvGrpSpPr>
          <p:grpSpPr bwMode="hidden">
            <a:xfrm>
              <a:off x="-1" y="0"/>
              <a:ext cx="12192001" cy="6858000"/>
              <a:chOff x="-1" y="0"/>
              <a:chExt cx="12192001" cy="6858000"/>
            </a:xfrm>
          </p:grpSpPr>
          <p:cxnSp>
            <p:nvCxnSpPr>
              <p:cNvPr id="43" name="رابط مستقيم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رابط مستقيم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رابط مستقيم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رابط مستقيم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رابط مستقيم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المجموعة 47"/>
              <p:cNvGrpSpPr/>
              <p:nvPr/>
            </p:nvGrpSpPr>
            <p:grpSpPr bwMode="hidden">
              <a:xfrm>
                <a:off x="6327885" y="0"/>
                <a:ext cx="5864115" cy="5898673"/>
                <a:chOff x="6327885" y="0"/>
                <a:chExt cx="5864115" cy="5898673"/>
              </a:xfrm>
            </p:grpSpPr>
            <p:cxnSp>
              <p:nvCxnSpPr>
                <p:cNvPr id="54" name="موصل مستقيم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رابط مستقيم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رابط مستقيم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رابط مستقيم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موصل مستقيم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رابط مستقيم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موصل مستقيم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موصل مستقيم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رابط مستقيم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موصل مستقيم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المجموعة 25"/>
            <p:cNvGrpSpPr/>
            <p:nvPr/>
          </p:nvGrpSpPr>
          <p:grpSpPr bwMode="hidden">
            <a:xfrm flipH="1">
              <a:off x="0" y="0"/>
              <a:ext cx="12192001" cy="6858000"/>
              <a:chOff x="-1" y="0"/>
              <a:chExt cx="12192001" cy="6858000"/>
            </a:xfrm>
          </p:grpSpPr>
          <p:cxnSp>
            <p:nvCxnSpPr>
              <p:cNvPr id="27" name="رابط مستقيم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رابط مستقيم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رابط مستقيم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رابط مستقيم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رابط مستقيم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مجموعة 31"/>
              <p:cNvGrpSpPr/>
              <p:nvPr/>
            </p:nvGrpSpPr>
            <p:grpSpPr bwMode="hidden">
              <a:xfrm>
                <a:off x="6327885" y="0"/>
                <a:ext cx="5864115" cy="5898673"/>
                <a:chOff x="6327885" y="0"/>
                <a:chExt cx="5864115" cy="5898673"/>
              </a:xfrm>
            </p:grpSpPr>
            <p:cxnSp>
              <p:nvCxnSpPr>
                <p:cNvPr id="38" name="رابط مستقيم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رابط مستقيم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رابط مستقيم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رابط مستقيم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موصل مستقيم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رابط مستقيم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موصل مستقيم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موصل مستقيم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رابط مستقيم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موصل مستقيم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مستطيل 59"/>
          <p:cNvSpPr/>
          <p:nvPr/>
        </p:nvSpPr>
        <p:spPr>
          <a:xfrm flipH="1">
            <a:off x="487680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ar-SA" noProof="0" dirty="0">
              <a:cs typeface="+mj-cs"/>
            </a:endParaRPr>
          </a:p>
        </p:txBody>
      </p:sp>
      <p:cxnSp>
        <p:nvCxnSpPr>
          <p:cNvPr id="59" name="موصل مستقيم 58"/>
          <p:cNvCxnSpPr>
            <a:cxnSpLocks/>
          </p:cNvCxnSpPr>
          <p:nvPr/>
        </p:nvCxnSpPr>
        <p:spPr>
          <a:xfrm flipH="1">
            <a:off x="609600"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العنوان 1"/>
          <p:cNvSpPr>
            <a:spLocks noGrp="1"/>
          </p:cNvSpPr>
          <p:nvPr>
            <p:ph type="title"/>
          </p:nvPr>
        </p:nvSpPr>
        <p:spPr>
          <a:xfrm flipH="1">
            <a:off x="624840" y="576072"/>
            <a:ext cx="3657600" cy="2194560"/>
          </a:xfrm>
        </p:spPr>
        <p:txBody>
          <a:bodyPr rtlCol="1" anchor="b">
            <a:normAutofit/>
          </a:bodyPr>
          <a:lstStyle>
            <a:lvl1pPr algn="r" rtl="1">
              <a:defRPr sz="2600">
                <a:solidFill>
                  <a:schemeClr val="bg1"/>
                </a:solidFill>
                <a:cs typeface="+mj-cs"/>
              </a:defRPr>
            </a:lvl1pPr>
          </a:lstStyle>
          <a:p>
            <a:pPr rtl="1"/>
            <a:r>
              <a:rPr lang="ar-SA" noProof="0"/>
              <a:t>انقر لتحرير نمط عنوان الشكل الرئيسي</a:t>
            </a:r>
            <a:endParaRPr lang="ar-SA" noProof="0" dirty="0"/>
          </a:p>
        </p:txBody>
      </p:sp>
      <p:sp>
        <p:nvSpPr>
          <p:cNvPr id="3" name="عنصر نائب للصورة 2" descr="عنصر نائب فارغ لإضافة صورة. انقر فوق العنصر النائب وقم بتحديد الصورة التي ترغب بإضافتها."/>
          <p:cNvSpPr>
            <a:spLocks noGrp="1"/>
          </p:cNvSpPr>
          <p:nvPr>
            <p:ph type="pic" idx="1"/>
          </p:nvPr>
        </p:nvSpPr>
        <p:spPr>
          <a:xfrm flipH="1">
            <a:off x="4872388" y="-159"/>
            <a:ext cx="7315200" cy="6858000"/>
          </a:xfrm>
        </p:spPr>
        <p:txBody>
          <a:bodyPr tIns="457200" rtlCol="1">
            <a:normAutofit/>
          </a:bodyPr>
          <a:lstStyle>
            <a:lvl1pPr marL="0" indent="0" algn="ctr" rtl="1">
              <a:buNone/>
              <a:defRPr sz="2000">
                <a:cs typeface="+mj-cs"/>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rtl="1"/>
            <a:r>
              <a:rPr lang="ar-SA" noProof="0"/>
              <a:t>انقر فوق الأيقونة لإضافة صورة</a:t>
            </a:r>
            <a:endParaRPr lang="ar-SA" noProof="0" dirty="0"/>
          </a:p>
        </p:txBody>
      </p:sp>
      <p:sp>
        <p:nvSpPr>
          <p:cNvPr id="4" name="عنصر نائب للنص 3"/>
          <p:cNvSpPr>
            <a:spLocks noGrp="1"/>
          </p:cNvSpPr>
          <p:nvPr>
            <p:ph type="body" sz="half" idx="2"/>
          </p:nvPr>
        </p:nvSpPr>
        <p:spPr>
          <a:xfrm flipH="1">
            <a:off x="624840" y="2999232"/>
            <a:ext cx="3657600" cy="2286000"/>
          </a:xfrm>
        </p:spPr>
        <p:txBody>
          <a:bodyPr rtlCol="1"/>
          <a:lstStyle>
            <a:lvl1pPr marL="0" indent="0" algn="r" rtl="1">
              <a:spcBef>
                <a:spcPts val="1200"/>
              </a:spcBef>
              <a:buNone/>
              <a:defRPr sz="1600">
                <a:solidFill>
                  <a:schemeClr val="bg1"/>
                </a:solidFill>
                <a:cs typeface="+mj-cs"/>
              </a:defRPr>
            </a:lvl1pPr>
            <a:lvl2pPr marL="457200" indent="0" algn="r" rtl="1">
              <a:buNone/>
              <a:defRPr sz="1400"/>
            </a:lvl2pPr>
            <a:lvl3pPr marL="914400" indent="0" algn="r" rtl="1">
              <a:buNone/>
              <a:defRPr sz="1200"/>
            </a:lvl3pPr>
            <a:lvl4pPr marL="1371600" indent="0" algn="r" rtl="1">
              <a:buNone/>
              <a:defRPr sz="1000"/>
            </a:lvl4pPr>
            <a:lvl5pPr marL="1828800" indent="0" algn="r" rtl="1">
              <a:buNone/>
              <a:defRPr sz="1000"/>
            </a:lvl5pPr>
            <a:lvl6pPr marL="2286000" indent="0" algn="r" rtl="1">
              <a:buNone/>
              <a:defRPr sz="1000"/>
            </a:lvl6pPr>
            <a:lvl7pPr marL="2743200" indent="0" algn="r" rtl="1">
              <a:buNone/>
              <a:defRPr sz="1000"/>
            </a:lvl7pPr>
            <a:lvl8pPr marL="3200400" indent="0" algn="r" rtl="1">
              <a:buNone/>
              <a:defRPr sz="1000"/>
            </a:lvl8pPr>
            <a:lvl9pPr marL="3657600" indent="0" algn="r" rtl="1">
              <a:buNone/>
              <a:defRPr sz="1000"/>
            </a:lvl9pPr>
          </a:lstStyle>
          <a:p>
            <a:pPr lvl="0" rtl="1"/>
            <a:r>
              <a:rPr lang="ar-SA" noProof="0"/>
              <a:t>انقر لتحرير أنماط نص الشكل الرئيسي</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العنوان والنص العمودي">
    <p:spTree>
      <p:nvGrpSpPr>
        <p:cNvPr id="1" name=""/>
        <p:cNvGrpSpPr/>
        <p:nvPr/>
      </p:nvGrpSpPr>
      <p:grpSpPr>
        <a:xfrm>
          <a:off x="0" y="0"/>
          <a:ext cx="0" cy="0"/>
          <a:chOff x="0" y="0"/>
          <a:chExt cx="0" cy="0"/>
        </a:xfrm>
      </p:grpSpPr>
      <p:sp>
        <p:nvSpPr>
          <p:cNvPr id="2" name="العنوان 1"/>
          <p:cNvSpPr>
            <a:spLocks noGrp="1"/>
          </p:cNvSpPr>
          <p:nvPr>
            <p:ph type="title"/>
          </p:nvPr>
        </p:nvSpPr>
        <p:spPr>
          <a:xfrm flipH="1">
            <a:off x="1295400" y="503853"/>
            <a:ext cx="9601200" cy="1142385"/>
          </a:xfrm>
        </p:spPr>
        <p:txBody>
          <a:bodyPr rtlCol="1"/>
          <a:lstStyle>
            <a:lvl1pPr algn="r" rtl="1">
              <a:defRPr/>
            </a:lvl1pPr>
          </a:lstStyle>
          <a:p>
            <a:pPr rtl="1"/>
            <a:r>
              <a:rPr lang="ar-SA" noProof="0"/>
              <a:t>انقر لتحرير نمط عنوان الشكل الرئيسي</a:t>
            </a:r>
            <a:endParaRPr lang="ar-SA" noProof="0" dirty="0"/>
          </a:p>
        </p:txBody>
      </p:sp>
      <p:sp>
        <p:nvSpPr>
          <p:cNvPr id="3" name="العنصر النائب لنص عمودي 2"/>
          <p:cNvSpPr>
            <a:spLocks noGrp="1"/>
          </p:cNvSpPr>
          <p:nvPr>
            <p:ph type="body" orient="vert" idx="1"/>
          </p:nvPr>
        </p:nvSpPr>
        <p:spPr>
          <a:xfrm flipH="1" flipV="1">
            <a:off x="1295400" y="1981201"/>
            <a:ext cx="9601200" cy="3809999"/>
          </a:xfrm>
        </p:spPr>
        <p:txBody>
          <a:bodyPr vert="eaVert" rtlCol="1"/>
          <a:lstStyle>
            <a:lvl1pPr algn="r" rtl="1">
              <a:defRPr/>
            </a:lvl1pPr>
            <a:lvl2pPr algn="r" rtl="1">
              <a:defRPr/>
            </a:lvl2pPr>
            <a:lvl3pPr algn="r" rtl="1">
              <a:defRPr/>
            </a:lvl3pPr>
            <a:lvl4pPr algn="r" rtl="1">
              <a:defRPr/>
            </a:lvl4pPr>
            <a:lvl5pPr algn="r" rtl="1">
              <a:defRPr/>
            </a:lvl5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5" name="عنصر نائب للتذييل 4"/>
          <p:cNvSpPr>
            <a:spLocks noGrp="1"/>
          </p:cNvSpPr>
          <p:nvPr>
            <p:ph type="ftr" sz="quarter" idx="11"/>
          </p:nvPr>
        </p:nvSpPr>
        <p:spPr>
          <a:xfrm flipH="1">
            <a:off x="5454369" y="6289679"/>
            <a:ext cx="6128030" cy="222436"/>
          </a:xfrm>
        </p:spPr>
        <p:txBody>
          <a:bodyPr rtlCol="1"/>
          <a:lstStyle>
            <a:lvl1pPr algn="r" rtl="1">
              <a:defRPr/>
            </a:lvl1pPr>
          </a:lstStyle>
          <a:p>
            <a:pPr rtl="1"/>
            <a:r>
              <a:rPr lang="ar-SA" noProof="0" dirty="0"/>
              <a:t>إضافة تذييل</a:t>
            </a:r>
          </a:p>
        </p:txBody>
      </p:sp>
      <p:sp>
        <p:nvSpPr>
          <p:cNvPr id="4" name="عنصر نائب للتاريخ 3"/>
          <p:cNvSpPr>
            <a:spLocks noGrp="1"/>
          </p:cNvSpPr>
          <p:nvPr>
            <p:ph type="dt" sz="half" idx="10"/>
          </p:nvPr>
        </p:nvSpPr>
        <p:spPr>
          <a:xfrm flipH="1">
            <a:off x="1932012" y="6289679"/>
            <a:ext cx="965946" cy="222436"/>
          </a:xfrm>
        </p:spPr>
        <p:txBody>
          <a:bodyPr rtlCol="1"/>
          <a:lstStyle>
            <a:lvl1pPr algn="l" rtl="1">
              <a:defRPr/>
            </a:lvl1pPr>
          </a:lstStyle>
          <a:p>
            <a:fld id="{38BD5061-95E8-4DDA-B691-F712C9265872}" type="datetime1">
              <a:rPr lang="ar-SA" smtClean="0"/>
              <a:pPr/>
              <a:t>11/10/1447</a:t>
            </a:fld>
            <a:endParaRPr lang="ar-SA" dirty="0"/>
          </a:p>
        </p:txBody>
      </p:sp>
      <p:sp>
        <p:nvSpPr>
          <p:cNvPr id="6" name="عنصر نائب لرقم الشريحة 5"/>
          <p:cNvSpPr>
            <a:spLocks noGrp="1"/>
          </p:cNvSpPr>
          <p:nvPr>
            <p:ph type="sldNum" sz="quarter" idx="12"/>
          </p:nvPr>
        </p:nvSpPr>
        <p:spPr>
          <a:xfrm flipH="1">
            <a:off x="607807" y="6289679"/>
            <a:ext cx="918882" cy="222436"/>
          </a:xfrm>
        </p:spPr>
        <p:txBody>
          <a:bodyPr rtlCol="1"/>
          <a:lstStyle>
            <a:lvl1pPr algn="l" rtl="1">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العنوان العمودي والنص">
    <p:spTree>
      <p:nvGrpSpPr>
        <p:cNvPr id="1" name=""/>
        <p:cNvGrpSpPr/>
        <p:nvPr/>
      </p:nvGrpSpPr>
      <p:grpSpPr>
        <a:xfrm>
          <a:off x="0" y="0"/>
          <a:ext cx="0" cy="0"/>
          <a:chOff x="0" y="0"/>
          <a:chExt cx="0" cy="0"/>
        </a:xfrm>
      </p:grpSpPr>
      <p:sp>
        <p:nvSpPr>
          <p:cNvPr id="2" name="العنوان العمودي 1"/>
          <p:cNvSpPr>
            <a:spLocks noGrp="1"/>
          </p:cNvSpPr>
          <p:nvPr>
            <p:ph type="title" orient="vert"/>
          </p:nvPr>
        </p:nvSpPr>
        <p:spPr>
          <a:xfrm flipH="1" flipV="1">
            <a:off x="1295400" y="489856"/>
            <a:ext cx="1687286" cy="5301343"/>
          </a:xfrm>
        </p:spPr>
        <p:txBody>
          <a:bodyPr vert="eaVert" rtlCol="1"/>
          <a:lstStyle>
            <a:lvl1pPr algn="r" rtl="1">
              <a:defRPr/>
            </a:lvl1pPr>
          </a:lstStyle>
          <a:p>
            <a:pPr rtl="1"/>
            <a:r>
              <a:rPr lang="ar-SA" noProof="0"/>
              <a:t>انقر لتحرير نمط عنوان الشكل الرئيسي</a:t>
            </a:r>
            <a:endParaRPr lang="ar-SA" noProof="0" dirty="0"/>
          </a:p>
        </p:txBody>
      </p:sp>
      <p:sp>
        <p:nvSpPr>
          <p:cNvPr id="3" name="العنصر النائب لنص عمودي 2"/>
          <p:cNvSpPr>
            <a:spLocks noGrp="1"/>
          </p:cNvSpPr>
          <p:nvPr>
            <p:ph type="body" orient="vert" idx="1"/>
          </p:nvPr>
        </p:nvSpPr>
        <p:spPr>
          <a:xfrm flipH="1" flipV="1">
            <a:off x="3309257" y="489856"/>
            <a:ext cx="7587344" cy="5301343"/>
          </a:xfrm>
        </p:spPr>
        <p:txBody>
          <a:bodyPr vert="eaVert" rtlCol="1"/>
          <a:lstStyle>
            <a:lvl1pPr algn="r" rtl="1">
              <a:defRPr/>
            </a:lvl1pPr>
            <a:lvl2pPr algn="r" rtl="1">
              <a:defRPr/>
            </a:lvl2pPr>
            <a:lvl3pPr algn="r" rtl="1">
              <a:defRPr/>
            </a:lvl3pPr>
            <a:lvl4pPr algn="r" rtl="1">
              <a:defRPr/>
            </a:lvl4pPr>
            <a:lvl5pPr algn="r" rtl="1">
              <a:defRPr/>
            </a:lvl5pPr>
          </a:lstStyle>
          <a:p>
            <a:pPr lvl="0" rtl="1"/>
            <a:r>
              <a:rPr lang="ar-SA" noProof="0"/>
              <a:t>انقر لتحرير أنماط نص الشكل الرئيسي</a:t>
            </a:r>
          </a:p>
          <a:p>
            <a:pPr lvl="1" rtl="1"/>
            <a:r>
              <a:rPr lang="ar-SA" noProof="0"/>
              <a:t>المستوى الثاني</a:t>
            </a:r>
          </a:p>
          <a:p>
            <a:pPr lvl="2" rtl="1"/>
            <a:r>
              <a:rPr lang="ar-SA" noProof="0"/>
              <a:t>المستوى الثالث</a:t>
            </a:r>
          </a:p>
          <a:p>
            <a:pPr lvl="3" rtl="1"/>
            <a:r>
              <a:rPr lang="ar-SA" noProof="0"/>
              <a:t>المستوى الرابع</a:t>
            </a:r>
          </a:p>
          <a:p>
            <a:pPr lvl="4" rtl="1"/>
            <a:r>
              <a:rPr lang="ar-SA" noProof="0"/>
              <a:t>المستوى الخامس</a:t>
            </a:r>
            <a:endParaRPr lang="ar-SA" noProof="0" dirty="0"/>
          </a:p>
        </p:txBody>
      </p:sp>
      <p:sp>
        <p:nvSpPr>
          <p:cNvPr id="5" name="عنصر نائب للتذييل 4"/>
          <p:cNvSpPr>
            <a:spLocks noGrp="1"/>
          </p:cNvSpPr>
          <p:nvPr>
            <p:ph type="ftr" sz="quarter" idx="11"/>
          </p:nvPr>
        </p:nvSpPr>
        <p:spPr>
          <a:xfrm flipH="1">
            <a:off x="5454369" y="6289679"/>
            <a:ext cx="6128030" cy="222436"/>
          </a:xfrm>
        </p:spPr>
        <p:txBody>
          <a:bodyPr rtlCol="1"/>
          <a:lstStyle>
            <a:lvl1pPr algn="r" rtl="1">
              <a:defRPr/>
            </a:lvl1pPr>
          </a:lstStyle>
          <a:p>
            <a:pPr rtl="1"/>
            <a:r>
              <a:rPr lang="ar-SA" noProof="0" dirty="0"/>
              <a:t>إضافة تذييل</a:t>
            </a:r>
          </a:p>
        </p:txBody>
      </p:sp>
      <p:sp>
        <p:nvSpPr>
          <p:cNvPr id="4" name="عنصر نائب للتاريخ 3"/>
          <p:cNvSpPr>
            <a:spLocks noGrp="1"/>
          </p:cNvSpPr>
          <p:nvPr>
            <p:ph type="dt" sz="half" idx="10"/>
          </p:nvPr>
        </p:nvSpPr>
        <p:spPr>
          <a:xfrm flipH="1">
            <a:off x="1932012" y="6289679"/>
            <a:ext cx="965946" cy="222436"/>
          </a:xfrm>
        </p:spPr>
        <p:txBody>
          <a:bodyPr rtlCol="1"/>
          <a:lstStyle>
            <a:lvl1pPr algn="l" rtl="1">
              <a:defRPr/>
            </a:lvl1pPr>
          </a:lstStyle>
          <a:p>
            <a:fld id="{C64B31AF-3AD7-4835-A047-0238F2C91975}" type="datetime1">
              <a:rPr lang="ar-SA" smtClean="0"/>
              <a:pPr/>
              <a:t>11/10/1447</a:t>
            </a:fld>
            <a:endParaRPr lang="ar-SA" dirty="0"/>
          </a:p>
        </p:txBody>
      </p:sp>
      <p:sp>
        <p:nvSpPr>
          <p:cNvPr id="6" name="عنصر نائب لرقم الشريحة 5"/>
          <p:cNvSpPr>
            <a:spLocks noGrp="1"/>
          </p:cNvSpPr>
          <p:nvPr>
            <p:ph type="sldNum" sz="quarter" idx="12"/>
          </p:nvPr>
        </p:nvSpPr>
        <p:spPr>
          <a:xfrm flipH="1">
            <a:off x="607807" y="6289679"/>
            <a:ext cx="918882" cy="222436"/>
          </a:xfrm>
        </p:spPr>
        <p:txBody>
          <a:bodyPr rtlCol="1"/>
          <a:lstStyle>
            <a:lvl1pPr algn="l" rtl="1">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المجموعة 95"/>
          <p:cNvGrpSpPr/>
          <p:nvPr userDrawn="1"/>
        </p:nvGrpSpPr>
        <p:grpSpPr bwMode="hidden">
          <a:xfrm flipH="1">
            <a:off x="-1" y="-195943"/>
            <a:ext cx="12192002" cy="6858000"/>
            <a:chOff x="-1" y="0"/>
            <a:chExt cx="12192002" cy="6858000"/>
          </a:xfrm>
        </p:grpSpPr>
        <p:cxnSp>
          <p:nvCxnSpPr>
            <p:cNvPr id="97" name="موصل مستقيم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رابط مستقيم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موصل مستقيم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موصل مستقيم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موصل مستقيم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موصل مستقيم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موصل مستقيم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موصل مستقيم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موصل مستقيم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موصل مستقيم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موصل مستقيم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موصل مستقيم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موصل مستقيم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موصل مستقيم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رابط مستقيم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رابط مستقيم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المجموعة 112"/>
            <p:cNvGrpSpPr/>
            <p:nvPr userDrawn="1"/>
          </p:nvGrpSpPr>
          <p:grpSpPr bwMode="hidden">
            <a:xfrm>
              <a:off x="-1" y="0"/>
              <a:ext cx="12192001" cy="6858000"/>
              <a:chOff x="-1" y="0"/>
              <a:chExt cx="12192001" cy="6858000"/>
            </a:xfrm>
          </p:grpSpPr>
          <p:cxnSp>
            <p:nvCxnSpPr>
              <p:cNvPr id="131" name="رابط مستقيم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رابط مستقيم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رابط مستقيم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موصل مستقيم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موصل مستقيم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المجموعة 135"/>
              <p:cNvGrpSpPr/>
              <p:nvPr/>
            </p:nvGrpSpPr>
            <p:grpSpPr bwMode="hidden">
              <a:xfrm>
                <a:off x="6327885" y="0"/>
                <a:ext cx="5864115" cy="5898673"/>
                <a:chOff x="6327885" y="0"/>
                <a:chExt cx="5864115" cy="5898673"/>
              </a:xfrm>
            </p:grpSpPr>
            <p:cxnSp>
              <p:nvCxnSpPr>
                <p:cNvPr id="142" name="موصل مستقيم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موصل مستقيم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موصل مستقيم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موصل مستقيم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رابط مستقيم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موصل مستقيم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موصل مستقيم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رابط مستقيم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موصل مستقيم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رابط مستقيم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المجموعة 113"/>
            <p:cNvGrpSpPr/>
            <p:nvPr userDrawn="1"/>
          </p:nvGrpSpPr>
          <p:grpSpPr bwMode="hidden">
            <a:xfrm flipH="1">
              <a:off x="0" y="0"/>
              <a:ext cx="12192001" cy="6858000"/>
              <a:chOff x="-1" y="0"/>
              <a:chExt cx="12192001" cy="6858000"/>
            </a:xfrm>
          </p:grpSpPr>
          <p:cxnSp>
            <p:nvCxnSpPr>
              <p:cNvPr id="115" name="رابط مستقيم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رابط مستقيم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رابط مستقيم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رابط مستقيم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رابط مستقيم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المجموعة 119"/>
              <p:cNvGrpSpPr/>
              <p:nvPr/>
            </p:nvGrpSpPr>
            <p:grpSpPr bwMode="hidden">
              <a:xfrm>
                <a:off x="6327885" y="0"/>
                <a:ext cx="5864115" cy="5898673"/>
                <a:chOff x="6327885" y="0"/>
                <a:chExt cx="5864115" cy="5898673"/>
              </a:xfrm>
            </p:grpSpPr>
            <p:cxnSp>
              <p:nvCxnSpPr>
                <p:cNvPr id="126" name="موصل مستقيم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رابط مستقيم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رابط مستقيم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رابط مستقيم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موصل مستقيم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موصل مستقيم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موصل مستقيم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موصل مستقيم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موصل مستقيم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رابط مستقيم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عنصر نائب للعنوان 1"/>
          <p:cNvSpPr>
            <a:spLocks noGrp="1"/>
          </p:cNvSpPr>
          <p:nvPr>
            <p:ph type="title"/>
          </p:nvPr>
        </p:nvSpPr>
        <p:spPr>
          <a:xfrm flipH="1">
            <a:off x="1295400" y="503853"/>
            <a:ext cx="9601200" cy="1142385"/>
          </a:xfrm>
          <a:prstGeom prst="rect">
            <a:avLst/>
          </a:prstGeom>
        </p:spPr>
        <p:txBody>
          <a:bodyPr vert="horz" lIns="91440" tIns="45720" rIns="91440" bIns="45720" rtlCol="1" anchor="b">
            <a:normAutofit/>
          </a:bodyPr>
          <a:lstStyle/>
          <a:p>
            <a:pPr rtl="1"/>
            <a:r>
              <a:rPr lang="ar-SA" dirty="0"/>
              <a:t>انقر لتحرير نمط العنوان الرئيسي</a:t>
            </a:r>
            <a:endParaRPr lang="ar-SA" noProof="0" dirty="0"/>
          </a:p>
        </p:txBody>
      </p:sp>
      <p:sp>
        <p:nvSpPr>
          <p:cNvPr id="3" name="عنصر نائب للنص 2"/>
          <p:cNvSpPr>
            <a:spLocks noGrp="1"/>
          </p:cNvSpPr>
          <p:nvPr>
            <p:ph type="body" idx="1"/>
          </p:nvPr>
        </p:nvSpPr>
        <p:spPr>
          <a:xfrm flipH="1">
            <a:off x="1295400" y="1981201"/>
            <a:ext cx="9601200" cy="3809999"/>
          </a:xfrm>
          <a:prstGeom prst="rect">
            <a:avLst/>
          </a:prstGeom>
        </p:spPr>
        <p:txBody>
          <a:bodyPr vert="horz" lIns="91440" tIns="45720" rIns="91440" bIns="45720" rtlCol="1">
            <a:normAutofit/>
          </a:bodyPr>
          <a:lstStyle/>
          <a:p>
            <a:pPr lvl="0" rtl="1"/>
            <a:r>
              <a:rPr lang="ar-SA" noProof="0" dirty="0"/>
              <a:t>انقر لتحرير أنماط النص الرئيسي</a:t>
            </a:r>
          </a:p>
          <a:p>
            <a:pPr lvl="1" rtl="1"/>
            <a:r>
              <a:rPr lang="ar-SA" noProof="0" dirty="0"/>
              <a:t>المستوى الثاني</a:t>
            </a:r>
          </a:p>
          <a:p>
            <a:pPr lvl="2" rtl="1"/>
            <a:r>
              <a:rPr lang="ar-SA" noProof="0" dirty="0"/>
              <a:t>المستوى الثالث</a:t>
            </a:r>
          </a:p>
          <a:p>
            <a:pPr lvl="3" rtl="1"/>
            <a:r>
              <a:rPr lang="ar-SA" noProof="0" dirty="0"/>
              <a:t>المستوى الرابع</a:t>
            </a:r>
          </a:p>
          <a:p>
            <a:pPr lvl="4" rtl="1"/>
            <a:r>
              <a:rPr lang="ar-SA" noProof="0" dirty="0"/>
              <a:t>المستوى الخامس</a:t>
            </a:r>
          </a:p>
        </p:txBody>
      </p:sp>
      <p:cxnSp>
        <p:nvCxnSpPr>
          <p:cNvPr id="148" name="رابط مستقيم 147"/>
          <p:cNvCxnSpPr>
            <a:cxnSpLocks/>
          </p:cNvCxnSpPr>
          <p:nvPr userDrawn="1"/>
        </p:nvCxnSpPr>
        <p:spPr>
          <a:xfrm flipH="1">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عنصر نائب للتذييل 4"/>
          <p:cNvSpPr>
            <a:spLocks noGrp="1"/>
          </p:cNvSpPr>
          <p:nvPr>
            <p:ph type="ftr" sz="quarter" idx="3"/>
          </p:nvPr>
        </p:nvSpPr>
        <p:spPr>
          <a:xfrm flipH="1">
            <a:off x="5454369" y="6289679"/>
            <a:ext cx="6128030" cy="222436"/>
          </a:xfrm>
          <a:prstGeom prst="rect">
            <a:avLst/>
          </a:prstGeom>
        </p:spPr>
        <p:txBody>
          <a:bodyPr vert="horz" lIns="91440" tIns="45720" rIns="91440" bIns="45720" rtlCol="1" anchor="ctr"/>
          <a:lstStyle>
            <a:lvl1pPr algn="r" rtl="1">
              <a:defRPr sz="1100">
                <a:solidFill>
                  <a:schemeClr val="tx1">
                    <a:lumMod val="90000"/>
                    <a:lumOff val="10000"/>
                  </a:schemeClr>
                </a:solidFill>
                <a:cs typeface="+mj-cs"/>
              </a:defRPr>
            </a:lvl1pPr>
          </a:lstStyle>
          <a:p>
            <a:r>
              <a:rPr lang="ar-SA"/>
              <a:t>إضافة تذييل</a:t>
            </a:r>
            <a:endParaRPr lang="ar-SA" dirty="0"/>
          </a:p>
        </p:txBody>
      </p:sp>
      <p:sp>
        <p:nvSpPr>
          <p:cNvPr id="4" name="عنصر نائب للتاريخ 3"/>
          <p:cNvSpPr>
            <a:spLocks noGrp="1"/>
          </p:cNvSpPr>
          <p:nvPr>
            <p:ph type="dt" sz="half" idx="2"/>
          </p:nvPr>
        </p:nvSpPr>
        <p:spPr>
          <a:xfrm flipH="1">
            <a:off x="1932012" y="6289679"/>
            <a:ext cx="965946" cy="222436"/>
          </a:xfrm>
          <a:prstGeom prst="rect">
            <a:avLst/>
          </a:prstGeom>
        </p:spPr>
        <p:txBody>
          <a:bodyPr vert="horz" lIns="91440" tIns="45720" rIns="91440" bIns="45720" rtlCol="1" anchor="ctr"/>
          <a:lstStyle>
            <a:lvl1pPr algn="l" rtl="1">
              <a:defRPr sz="1100">
                <a:solidFill>
                  <a:schemeClr val="tx1">
                    <a:lumMod val="90000"/>
                    <a:lumOff val="10000"/>
                  </a:schemeClr>
                </a:solidFill>
                <a:cs typeface="+mj-cs"/>
              </a:defRPr>
            </a:lvl1pPr>
          </a:lstStyle>
          <a:p>
            <a:fld id="{63C4D736-3463-4CA4-BF1A-868C551DEE27}" type="datetime1">
              <a:rPr lang="ar-SA" smtClean="0"/>
              <a:pPr/>
              <a:t>11/10/1447</a:t>
            </a:fld>
            <a:endParaRPr lang="ar-SA" dirty="0"/>
          </a:p>
        </p:txBody>
      </p:sp>
      <p:sp>
        <p:nvSpPr>
          <p:cNvPr id="6" name="عنصر نائب لرقم الشريحة 5"/>
          <p:cNvSpPr>
            <a:spLocks noGrp="1"/>
          </p:cNvSpPr>
          <p:nvPr>
            <p:ph type="sldNum" sz="quarter" idx="4"/>
          </p:nvPr>
        </p:nvSpPr>
        <p:spPr>
          <a:xfrm flipH="1">
            <a:off x="607807" y="6289679"/>
            <a:ext cx="918882" cy="222436"/>
          </a:xfrm>
          <a:prstGeom prst="rect">
            <a:avLst/>
          </a:prstGeom>
        </p:spPr>
        <p:txBody>
          <a:bodyPr vert="horz" lIns="91440" tIns="45720" rIns="91440" bIns="45720" rtlCol="1" anchor="ctr"/>
          <a:lstStyle>
            <a:lvl1pPr algn="l" rtl="1">
              <a:defRPr sz="1100">
                <a:solidFill>
                  <a:schemeClr val="tx1">
                    <a:lumMod val="90000"/>
                    <a:lumOff val="10000"/>
                  </a:schemeClr>
                </a:solidFill>
                <a:cs typeface="+mj-cs"/>
              </a:defRPr>
            </a:lvl1pPr>
          </a:lstStyle>
          <a:p>
            <a:fld id="{E31375A4-56A4-47D6-9801-1991572033F7}" type="slidenum">
              <a:rPr lang="ar-SA" smtClean="0"/>
              <a:pPr/>
              <a:t>‹#›</a:t>
            </a:fld>
            <a:endParaRPr lang="ar-SA"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r" defTabSz="914400" rtl="1"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r" defTabSz="914400" rtl="1"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j-cs"/>
        </a:defRPr>
      </a:lvl1pPr>
      <a:lvl2pPr marL="457200" indent="-182880" algn="r" defTabSz="914400" rtl="1"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j-cs"/>
        </a:defRPr>
      </a:lvl2pPr>
      <a:lvl3pPr marL="685800" indent="-179388" algn="r" defTabSz="914400" rtl="1"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j-cs"/>
        </a:defRPr>
      </a:lvl3pPr>
      <a:lvl4pPr marL="914400" indent="-182880" algn="r" defTabSz="914400" rtl="1"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j-cs"/>
        </a:defRPr>
      </a:lvl4pPr>
      <a:lvl5pPr marL="1143000" indent="-179388" algn="r" defTabSz="914400" rtl="1"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j-cs"/>
        </a:defRPr>
      </a:lvl5pPr>
      <a:lvl6pPr marL="1371600" indent="-182880" algn="r" defTabSz="914400" rtl="1"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r" defTabSz="914400" rtl="1"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r" defTabSz="914400" rtl="1"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r" defTabSz="914400" rtl="1"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العنوان 1"/>
          <p:cNvSpPr>
            <a:spLocks noGrp="1"/>
          </p:cNvSpPr>
          <p:nvPr>
            <p:ph type="ctrTitle"/>
          </p:nvPr>
        </p:nvSpPr>
        <p:spPr>
          <a:xfrm flipH="1">
            <a:off x="1293845" y="1909346"/>
            <a:ext cx="9604310" cy="1519654"/>
          </a:xfrm>
        </p:spPr>
        <p:txBody>
          <a:bodyPr rtlCol="1">
            <a:noAutofit/>
          </a:bodyPr>
          <a:lstStyle/>
          <a:p>
            <a:r>
              <a:rPr lang="ar-SA" sz="4400" dirty="0">
                <a:solidFill>
                  <a:srgbClr val="00B050"/>
                </a:solidFill>
                <a:latin typeface="Almarai" pitchFamily="2" charset="-78"/>
                <a:cs typeface="Almarai" pitchFamily="2" charset="-78"/>
              </a:rPr>
              <a:t>رؤية مستقبلية لشركة المستلزمات المنزلية: تحليل الأداء التاريخي وتوقعات النمو 2026.</a:t>
            </a:r>
          </a:p>
        </p:txBody>
      </p:sp>
      <p:sp>
        <p:nvSpPr>
          <p:cNvPr id="4" name="العنوان الفرعي 2">
            <a:extLst>
              <a:ext uri="{FF2B5EF4-FFF2-40B4-BE49-F238E27FC236}">
                <a16:creationId xmlns:a16="http://schemas.microsoft.com/office/drawing/2014/main" id="{6B70B48A-FC7D-8EB3-9925-BA5153C04FDD}"/>
              </a:ext>
            </a:extLst>
          </p:cNvPr>
          <p:cNvSpPr txBox="1">
            <a:spLocks/>
          </p:cNvSpPr>
          <p:nvPr/>
        </p:nvSpPr>
        <p:spPr>
          <a:xfrm flipH="1">
            <a:off x="1293845" y="4152404"/>
            <a:ext cx="9604310" cy="1519654"/>
          </a:xfrm>
          <a:prstGeom prst="rect">
            <a:avLst/>
          </a:prstGeom>
        </p:spPr>
        <p:txBody>
          <a:bodyPr vert="horz" lIns="91440" tIns="45720" rIns="91440" bIns="45720" rtlCol="1">
            <a:normAutofit/>
          </a:bodyPr>
          <a:lstStyle>
            <a:lvl1pPr marL="0" indent="0" algn="r" defTabSz="914400" rtl="1" eaLnBrk="1" latinLnBrk="0" hangingPunct="1">
              <a:lnSpc>
                <a:spcPct val="90000"/>
              </a:lnSpc>
              <a:spcBef>
                <a:spcPts val="0"/>
              </a:spcBef>
              <a:buClr>
                <a:schemeClr val="accent1">
                  <a:lumMod val="75000"/>
                </a:schemeClr>
              </a:buClr>
              <a:buSzPct val="100000"/>
              <a:buFont typeface="Arial" pitchFamily="34" charset="0"/>
              <a:buNone/>
              <a:defRPr sz="2000" b="0" kern="1200">
                <a:solidFill>
                  <a:schemeClr val="accent1">
                    <a:lumMod val="75000"/>
                  </a:schemeClr>
                </a:solidFill>
                <a:latin typeface="+mn-lt"/>
                <a:ea typeface="+mn-ea"/>
                <a:cs typeface="+mj-cs"/>
              </a:defRPr>
            </a:lvl1pPr>
            <a:lvl2pPr marL="457200" indent="0" algn="ctr" defTabSz="914400" rtl="1" eaLnBrk="1" latinLnBrk="0" hangingPunct="1">
              <a:lnSpc>
                <a:spcPct val="90000"/>
              </a:lnSpc>
              <a:spcBef>
                <a:spcPts val="1200"/>
              </a:spcBef>
              <a:buClr>
                <a:schemeClr val="accent1">
                  <a:lumMod val="75000"/>
                </a:schemeClr>
              </a:buClr>
              <a:buSzPct val="100000"/>
              <a:buFont typeface="Arial" pitchFamily="34" charset="0"/>
              <a:buNone/>
              <a:defRPr sz="2000" kern="1200">
                <a:solidFill>
                  <a:schemeClr val="tx1"/>
                </a:solidFill>
                <a:latin typeface="+mn-lt"/>
                <a:ea typeface="+mn-ea"/>
                <a:cs typeface="+mj-cs"/>
              </a:defRPr>
            </a:lvl2pPr>
            <a:lvl3pPr marL="914400" indent="0" algn="ctr" defTabSz="914400" rtl="1" eaLnBrk="1" latinLnBrk="0" hangingPunct="1">
              <a:lnSpc>
                <a:spcPct val="90000"/>
              </a:lnSpc>
              <a:spcBef>
                <a:spcPts val="800"/>
              </a:spcBef>
              <a:buClr>
                <a:schemeClr val="accent1">
                  <a:lumMod val="75000"/>
                </a:schemeClr>
              </a:buClr>
              <a:buSzPct val="100000"/>
              <a:buFont typeface="Arial" pitchFamily="34" charset="0"/>
              <a:buNone/>
              <a:defRPr sz="1800" kern="1200">
                <a:solidFill>
                  <a:schemeClr val="tx1"/>
                </a:solidFill>
                <a:latin typeface="+mn-lt"/>
                <a:ea typeface="+mn-ea"/>
                <a:cs typeface="+mj-cs"/>
              </a:defRPr>
            </a:lvl3pPr>
            <a:lvl4pPr marL="1371600" indent="0" algn="ctr" defTabSz="914400" rtl="1" eaLnBrk="1" latinLnBrk="0" hangingPunct="1">
              <a:lnSpc>
                <a:spcPct val="90000"/>
              </a:lnSpc>
              <a:spcBef>
                <a:spcPts val="800"/>
              </a:spcBef>
              <a:buClr>
                <a:schemeClr val="accent1">
                  <a:lumMod val="75000"/>
                </a:schemeClr>
              </a:buClr>
              <a:buSzPct val="100000"/>
              <a:buFont typeface="Arial" pitchFamily="34" charset="0"/>
              <a:buNone/>
              <a:defRPr sz="1600" kern="1200">
                <a:solidFill>
                  <a:schemeClr val="tx1"/>
                </a:solidFill>
                <a:latin typeface="+mn-lt"/>
                <a:ea typeface="+mn-ea"/>
                <a:cs typeface="+mj-cs"/>
              </a:defRPr>
            </a:lvl4pPr>
            <a:lvl5pPr marL="1828800" indent="0" algn="ctr" defTabSz="914400" rtl="1"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j-cs"/>
              </a:defRPr>
            </a:lvl5pPr>
            <a:lvl6pPr marL="2286000" indent="0" algn="ctr" defTabSz="914400" rtl="1"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9pPr>
          </a:lstStyle>
          <a:p>
            <a:r>
              <a:rPr lang="ar-SA" b="1" dirty="0">
                <a:solidFill>
                  <a:schemeClr val="tx1"/>
                </a:solidFill>
                <a:latin typeface="Almarai" pitchFamily="2" charset="-78"/>
                <a:cs typeface="Almarai" pitchFamily="2" charset="-78"/>
              </a:rPr>
              <a:t>الاسم : عبدالله محمد عبدالرحمن الشريف</a:t>
            </a:r>
          </a:p>
          <a:p>
            <a:endParaRPr lang="ar-SA" b="1" dirty="0">
              <a:solidFill>
                <a:schemeClr val="tx1"/>
              </a:solidFill>
              <a:latin typeface="Almarai" pitchFamily="2" charset="-78"/>
              <a:cs typeface="Almarai" pitchFamily="2" charset="-78"/>
            </a:endParaRPr>
          </a:p>
          <a:p>
            <a:r>
              <a:rPr lang="ar-SA" b="1" dirty="0">
                <a:solidFill>
                  <a:schemeClr val="tx1"/>
                </a:solidFill>
                <a:latin typeface="Almarai" pitchFamily="2" charset="-78"/>
                <a:cs typeface="Almarai" pitchFamily="2" charset="-78"/>
              </a:rPr>
              <a:t>التاريخ : 2026</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8C1B27F-07BE-E54B-C1A7-9FE2F497723D}"/>
              </a:ext>
            </a:extLst>
          </p:cNvPr>
          <p:cNvSpPr>
            <a:spLocks noGrp="1"/>
          </p:cNvSpPr>
          <p:nvPr>
            <p:ph type="title"/>
          </p:nvPr>
        </p:nvSpPr>
        <p:spPr/>
        <p:txBody>
          <a:bodyPr/>
          <a:lstStyle/>
          <a:p>
            <a:r>
              <a:rPr lang="ar-SA" dirty="0">
                <a:solidFill>
                  <a:srgbClr val="00B050"/>
                </a:solidFill>
                <a:latin typeface="Arial" panose="020B0604020202020204" pitchFamily="34" charset="0"/>
                <a:cs typeface="Arial" panose="020B0604020202020204" pitchFamily="34" charset="0"/>
              </a:rPr>
              <a:t>هيكل البيانات والمنهجية </a:t>
            </a:r>
            <a:r>
              <a:rPr lang="en-US" dirty="0">
                <a:solidFill>
                  <a:srgbClr val="00B050"/>
                </a:solidFill>
                <a:latin typeface="Arial" panose="020B0604020202020204" pitchFamily="34" charset="0"/>
                <a:cs typeface="Arial" panose="020B0604020202020204" pitchFamily="34" charset="0"/>
              </a:rPr>
              <a:t>Data Intelligence)</a:t>
            </a:r>
            <a:r>
              <a:rPr lang="ar-SA" dirty="0">
                <a:solidFill>
                  <a:srgbClr val="00B050"/>
                </a:solidFill>
                <a:latin typeface="Arial" panose="020B0604020202020204" pitchFamily="34" charset="0"/>
                <a:cs typeface="Arial" panose="020B0604020202020204" pitchFamily="34" charset="0"/>
              </a:rPr>
              <a:t>)</a:t>
            </a:r>
          </a:p>
        </p:txBody>
      </p:sp>
      <p:sp>
        <p:nvSpPr>
          <p:cNvPr id="4" name="Rectangle 1">
            <a:extLst>
              <a:ext uri="{FF2B5EF4-FFF2-40B4-BE49-F238E27FC236}">
                <a16:creationId xmlns:a16="http://schemas.microsoft.com/office/drawing/2014/main" id="{233D7078-8C9F-02BC-A671-E098707BC63D}"/>
              </a:ext>
            </a:extLst>
          </p:cNvPr>
          <p:cNvSpPr>
            <a:spLocks noGrp="1" noChangeArrowheads="1"/>
          </p:cNvSpPr>
          <p:nvPr>
            <p:ph idx="1"/>
          </p:nvPr>
        </p:nvSpPr>
        <p:spPr bwMode="auto">
          <a:xfrm flipH="1">
            <a:off x="1295400" y="2547375"/>
            <a:ext cx="9728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نحن لا نتحدث عن أرقام عشوائية، بل عن قاعدة بيانات ضخمة تحتوي على 2616 عملية بيع مفصلة عبر 17 متغيراً (مثل التاريخ، الفرع، الموظف، السعر، والخصم). تم استخدام</a:t>
            </a:r>
            <a:r>
              <a:rPr lang="ar-SA" altLang="ar-SA" sz="2400" dirty="0">
                <a:latin typeface="Arial" panose="020B0604020202020204" pitchFamily="34" charset="0"/>
                <a:cs typeface="Arial" panose="020B0604020202020204" pitchFamily="34" charset="0"/>
              </a:rPr>
              <a:t> </a:t>
            </a:r>
            <a:r>
              <a:rPr lang="ar-SA" altLang="ar-SA" sz="2400" dirty="0" err="1">
                <a:latin typeface="Arial" panose="020B0604020202020204" pitchFamily="34" charset="0"/>
              </a:rPr>
              <a:t>Python</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و</a:t>
            </a:r>
            <a:r>
              <a:rPr kumimoji="0" lang="ar-SA" altLang="ar-SA" sz="2400" b="0" i="0" u="none" strike="noStrike" cap="none" normalizeH="0" baseline="0" dirty="0" err="1">
                <a:ln>
                  <a:noFill/>
                </a:ln>
                <a:solidFill>
                  <a:schemeClr val="tx1"/>
                </a:solidFill>
                <a:effectLst/>
                <a:latin typeface="Arial" panose="020B0604020202020204" pitchFamily="34" charset="0"/>
              </a:rPr>
              <a:t>SQL</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لتنظيف البيانات من التكرار </a:t>
            </a:r>
            <a:r>
              <a:rPr kumimoji="0" lang="ar-SA" altLang="ar-SA" sz="2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و</a:t>
            </a:r>
            <a:r>
              <a:rPr kumimoji="0" lang="ar-SA" altLang="ar-SA" sz="2400" b="0" i="0" u="none" strike="noStrike" cap="none" normalizeH="0" baseline="0" dirty="0" err="1">
                <a:ln>
                  <a:noFill/>
                </a:ln>
                <a:solidFill>
                  <a:schemeClr val="tx1"/>
                </a:solidFill>
                <a:effectLst/>
                <a:latin typeface="Arial" panose="020B0604020202020204" pitchFamily="34" charset="0"/>
              </a:rPr>
              <a:t>Python</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لبناء نماذج التنبؤ</a:t>
            </a:r>
            <a:r>
              <a:rPr kumimoji="0" lang="ar-SA" altLang="ar-SA" sz="2400" b="0" i="0" u="none" strike="noStrike" cap="none" normalizeH="0" baseline="0" dirty="0">
                <a:ln>
                  <a:noFill/>
                </a:ln>
                <a:solidFill>
                  <a:schemeClr val="tx1"/>
                </a:solidFill>
                <a:effectLst/>
                <a:latin typeface="Arial" panose="020B0604020202020204" pitchFamily="34" charset="0"/>
              </a:rPr>
              <a:t>.</a:t>
            </a:r>
          </a:p>
          <a:p>
            <a:pPr algn="just" eaLnBrk="0" fontAlgn="base" hangingPunct="0">
              <a:lnSpc>
                <a:spcPct val="100000"/>
              </a:lnSpc>
              <a:spcBef>
                <a:spcPct val="0"/>
              </a:spcBef>
              <a:spcAft>
                <a:spcPct val="0"/>
              </a:spcAft>
              <a:buClrTx/>
              <a:buSzTx/>
              <a:buFont typeface="Arial" panose="020B0604020202020204" pitchFamily="34" charset="0"/>
              <a:buChar char="•"/>
            </a:pPr>
            <a:endParaRPr lang="ar-SA" altLang="ar-SA" sz="2400" dirty="0">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لقد قمت بعملية</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Data</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Normalization</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لضمان أن كل مليم في المبيعات محسوب بدقة دون أخطاء تقنية</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1829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F032-0AA7-4341-71AC-17ABD4528388}"/>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99FEECB3-9366-6D62-7F49-9AED63E2758F}"/>
              </a:ext>
            </a:extLst>
          </p:cNvPr>
          <p:cNvSpPr>
            <a:spLocks noGrp="1"/>
          </p:cNvSpPr>
          <p:nvPr>
            <p:ph type="title"/>
          </p:nvPr>
        </p:nvSpPr>
        <p:spPr/>
        <p:txBody>
          <a:bodyPr/>
          <a:lstStyle/>
          <a:p>
            <a:r>
              <a:rPr lang="ar-SA" dirty="0">
                <a:solidFill>
                  <a:srgbClr val="00B050"/>
                </a:solidFill>
                <a:latin typeface="Arial" panose="020B0604020202020204" pitchFamily="34" charset="0"/>
                <a:cs typeface="Arial" panose="020B0604020202020204" pitchFamily="34" charset="0"/>
              </a:rPr>
              <a:t>مؤشرات الأداء الرئيسية (</a:t>
            </a:r>
            <a:r>
              <a:rPr lang="en-US" dirty="0">
                <a:solidFill>
                  <a:srgbClr val="00B050"/>
                </a:solidFill>
                <a:latin typeface="Arial" panose="020B0604020202020204" pitchFamily="34" charset="0"/>
                <a:cs typeface="Arial" panose="020B0604020202020204" pitchFamily="34" charset="0"/>
              </a:rPr>
              <a:t>(The Power of Numbers</a:t>
            </a:r>
          </a:p>
        </p:txBody>
      </p:sp>
      <p:sp>
        <p:nvSpPr>
          <p:cNvPr id="4" name="Rectangle 1">
            <a:extLst>
              <a:ext uri="{FF2B5EF4-FFF2-40B4-BE49-F238E27FC236}">
                <a16:creationId xmlns:a16="http://schemas.microsoft.com/office/drawing/2014/main" id="{734FD565-9611-0F81-94AB-BE0E528FC5DE}"/>
              </a:ext>
            </a:extLst>
          </p:cNvPr>
          <p:cNvSpPr>
            <a:spLocks noGrp="1" noChangeArrowheads="1"/>
          </p:cNvSpPr>
          <p:nvPr>
            <p:ph idx="1"/>
          </p:nvPr>
        </p:nvSpPr>
        <p:spPr bwMode="auto">
          <a:xfrm flipH="1">
            <a:off x="1295400" y="1702529"/>
            <a:ext cx="9728200" cy="436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إجمالي المبيعات قبل الخصم </a:t>
            </a:r>
            <a:r>
              <a:rPr lang="ar-SA" sz="2400" dirty="0">
                <a:latin typeface="Arial" panose="020B0604020202020204" pitchFamily="34" charset="0"/>
                <a:cs typeface="Arial" panose="020B0604020202020204" pitchFamily="34" charset="0"/>
              </a:rPr>
              <a:t>: 35 مليون جنية </a:t>
            </a:r>
          </a:p>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إجمالي الخصومات </a:t>
            </a:r>
            <a:r>
              <a:rPr lang="ar-SA" sz="2400" dirty="0">
                <a:latin typeface="Arial" panose="020B0604020202020204" pitchFamily="34" charset="0"/>
                <a:cs typeface="Arial" panose="020B0604020202020204" pitchFamily="34" charset="0"/>
              </a:rPr>
              <a:t>:1.586 مليون جنية.</a:t>
            </a:r>
          </a:p>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صافي المبيعات بعد الخصم :</a:t>
            </a:r>
            <a:r>
              <a:rPr lang="ar-SA" sz="2400" dirty="0">
                <a:latin typeface="Arial" panose="020B0604020202020204" pitchFamily="34" charset="0"/>
                <a:cs typeface="Arial" panose="020B0604020202020204" pitchFamily="34" charset="0"/>
              </a:rPr>
              <a:t> 33.8 مليون جنيه.</a:t>
            </a:r>
          </a:p>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إجمالي الأرباح:</a:t>
            </a:r>
            <a:r>
              <a:rPr lang="ar-SA" sz="2400" dirty="0">
                <a:latin typeface="Arial" panose="020B0604020202020204" pitchFamily="34" charset="0"/>
                <a:cs typeface="Arial" panose="020B0604020202020204" pitchFamily="34" charset="0"/>
              </a:rPr>
              <a:t> 3.2 مليون جنيه.</a:t>
            </a:r>
          </a:p>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حجم العمليات:</a:t>
            </a:r>
            <a:r>
              <a:rPr lang="ar-SA" sz="2400" dirty="0">
                <a:latin typeface="Arial" panose="020B0604020202020204" pitchFamily="34" charset="0"/>
                <a:cs typeface="Arial" panose="020B0604020202020204" pitchFamily="34" charset="0"/>
              </a:rPr>
              <a:t> 2616 طلباً .</a:t>
            </a:r>
          </a:p>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إجمالي المنتجات المباعة : </a:t>
            </a:r>
            <a:r>
              <a:rPr lang="ar-SA" sz="2400" dirty="0">
                <a:latin typeface="Arial" panose="020B0604020202020204" pitchFamily="34" charset="0"/>
                <a:cs typeface="Arial" panose="020B0604020202020204" pitchFamily="34" charset="0"/>
              </a:rPr>
              <a:t>5247 قطعة مباعة.</a:t>
            </a:r>
          </a:p>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إجمالي العملاء : </a:t>
            </a:r>
            <a:r>
              <a:rPr lang="ar-SA" sz="2400" dirty="0">
                <a:latin typeface="Arial" panose="020B0604020202020204" pitchFamily="34" charset="0"/>
                <a:cs typeface="Arial" panose="020B0604020202020204" pitchFamily="34" charset="0"/>
              </a:rPr>
              <a:t>40 عميل</a:t>
            </a:r>
          </a:p>
          <a:p>
            <a:pPr>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اقتراح:</a:t>
            </a:r>
            <a:r>
              <a:rPr lang="ar-SA" sz="2400" dirty="0">
                <a:latin typeface="Arial" panose="020B0604020202020204" pitchFamily="34" charset="0"/>
                <a:cs typeface="Arial" panose="020B0604020202020204" pitchFamily="34" charset="0"/>
              </a:rPr>
              <a:t> رفع مستهدف الربحية من 9.4% إلى 12% من خلال تقليل التكاليف التشغيلية.</a:t>
            </a:r>
          </a:p>
        </p:txBody>
      </p:sp>
    </p:spTree>
    <p:extLst>
      <p:ext uri="{BB962C8B-B14F-4D97-AF65-F5344CB8AC3E}">
        <p14:creationId xmlns:p14="http://schemas.microsoft.com/office/powerpoint/2010/main" val="34751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0B050"/>
            </a:gs>
            <a:gs pos="0">
              <a:srgbClr val="00B05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عنوان 3">
            <a:extLst>
              <a:ext uri="{FF2B5EF4-FFF2-40B4-BE49-F238E27FC236}">
                <a16:creationId xmlns:a16="http://schemas.microsoft.com/office/drawing/2014/main" id="{A0A46604-5A29-7961-D409-5BCF49A8E769}"/>
              </a:ext>
            </a:extLst>
          </p:cNvPr>
          <p:cNvSpPr>
            <a:spLocks noGrp="1"/>
          </p:cNvSpPr>
          <p:nvPr>
            <p:ph type="title"/>
          </p:nvPr>
        </p:nvSpPr>
        <p:spPr/>
        <p:txBody>
          <a:bodyPr/>
          <a:lstStyle/>
          <a:p>
            <a:r>
              <a:rPr lang="ar-SA" dirty="0">
                <a:latin typeface="Almarai" pitchFamily="2" charset="-78"/>
                <a:cs typeface="Almarai" pitchFamily="2" charset="-78"/>
              </a:rPr>
              <a:t>الجزء الأول : تحليل المبيعات </a:t>
            </a:r>
            <a:r>
              <a:rPr lang="en-US" dirty="0">
                <a:latin typeface="Almarai" pitchFamily="2" charset="-78"/>
                <a:cs typeface="Almarai" pitchFamily="2" charset="-78"/>
              </a:rPr>
              <a:t>Sales Deep Dive)</a:t>
            </a:r>
            <a:r>
              <a:rPr lang="ar-SA" dirty="0">
                <a:latin typeface="Almarai" pitchFamily="2" charset="-78"/>
                <a:cs typeface="Almarai" pitchFamily="2" charset="-78"/>
              </a:rPr>
              <a:t>)</a:t>
            </a:r>
          </a:p>
        </p:txBody>
      </p:sp>
    </p:spTree>
    <p:extLst>
      <p:ext uri="{BB962C8B-B14F-4D97-AF65-F5344CB8AC3E}">
        <p14:creationId xmlns:p14="http://schemas.microsoft.com/office/powerpoint/2010/main" val="343961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814C2-7808-B5AC-0E58-ED840792383B}"/>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027279EA-A4C1-D661-E718-443E548E0CA3}"/>
              </a:ext>
            </a:extLst>
          </p:cNvPr>
          <p:cNvSpPr>
            <a:spLocks noGrp="1"/>
          </p:cNvSpPr>
          <p:nvPr>
            <p:ph type="title"/>
          </p:nvPr>
        </p:nvSpPr>
        <p:spPr/>
        <p:txBody>
          <a:bodyPr/>
          <a:lstStyle/>
          <a:p>
            <a:pPr algn="r"/>
            <a:r>
              <a:rPr lang="ar-SA" dirty="0">
                <a:solidFill>
                  <a:srgbClr val="00B050"/>
                </a:solidFill>
                <a:latin typeface="Arial" panose="020B0604020202020204" pitchFamily="34" charset="0"/>
                <a:cs typeface="Arial" panose="020B0604020202020204" pitchFamily="34" charset="0"/>
              </a:rPr>
              <a:t>تحليل عام الذروة (2024 - </a:t>
            </a:r>
            <a:r>
              <a:rPr lang="en-US" dirty="0">
                <a:solidFill>
                  <a:srgbClr val="00B050"/>
                </a:solidFill>
                <a:latin typeface="Arial" panose="020B0604020202020204" pitchFamily="34" charset="0"/>
                <a:cs typeface="Arial" panose="020B0604020202020204" pitchFamily="34" charset="0"/>
              </a:rPr>
              <a:t>The Golden Year</a:t>
            </a:r>
            <a:r>
              <a:rPr lang="ar-SA" dirty="0">
                <a:solidFill>
                  <a:srgbClr val="00B050"/>
                </a:solidFill>
                <a:latin typeface="Arial" panose="020B0604020202020204" pitchFamily="34" charset="0"/>
                <a:cs typeface="Arial" panose="020B0604020202020204" pitchFamily="34" charset="0"/>
              </a:rPr>
              <a:t>)</a:t>
            </a:r>
            <a:endParaRPr lang="en-US" dirty="0">
              <a:solidFill>
                <a:srgbClr val="00B050"/>
              </a:solidFill>
              <a:latin typeface="Arial" panose="020B0604020202020204" pitchFamily="34" charset="0"/>
              <a:cs typeface="Arial" panose="020B0604020202020204" pitchFamily="34" charset="0"/>
            </a:endParaRPr>
          </a:p>
        </p:txBody>
      </p:sp>
      <p:sp>
        <p:nvSpPr>
          <p:cNvPr id="3" name="Rectangle 1">
            <a:extLst>
              <a:ext uri="{FF2B5EF4-FFF2-40B4-BE49-F238E27FC236}">
                <a16:creationId xmlns:a16="http://schemas.microsoft.com/office/drawing/2014/main" id="{1D946D6E-54FB-871D-CF61-716E3B1F7C94}"/>
              </a:ext>
            </a:extLst>
          </p:cNvPr>
          <p:cNvSpPr>
            <a:spLocks noGrp="1" noChangeArrowheads="1"/>
          </p:cNvSpPr>
          <p:nvPr>
            <p:ph idx="1"/>
          </p:nvPr>
        </p:nvSpPr>
        <p:spPr bwMode="auto">
          <a:xfrm>
            <a:off x="7426325" y="2566215"/>
            <a:ext cx="3716596"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19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 :</a:t>
            </a:r>
            <a:r>
              <a:rPr kumimoji="0" lang="ar-SA" altLang="ar-SA" sz="1900" b="0" i="0" u="none" strike="noStrike" cap="none" normalizeH="0" baseline="0" dirty="0">
                <a:ln>
                  <a:noFill/>
                </a:ln>
                <a:solidFill>
                  <a:schemeClr val="tx1"/>
                </a:solidFill>
                <a:effectLst/>
                <a:latin typeface="Arial" panose="020B0604020202020204" pitchFamily="34" charset="0"/>
              </a:rPr>
              <a:t> </a:t>
            </a:r>
            <a:r>
              <a:rPr kumimoji="0" lang="ar-SA" altLang="ar-SA" sz="19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حققت سنة 2024 مبيعات قياسية بلغت 15.77 مليون جنيه. التحليل يظهر أن هذا العام شهد استقراراً في سلاسل الإمداد وزيادة في ثقة العملاء، مما أدى لنمو عدد الطلبات إلى 1179 طلباً</a:t>
            </a:r>
            <a:r>
              <a:rPr kumimoji="0" lang="ar-SA" altLang="ar-SA" sz="1900" b="0" i="0" u="none" strike="noStrike" cap="none" normalizeH="0" baseline="0" dirty="0">
                <a:ln>
                  <a:noFill/>
                </a:ln>
                <a:solidFill>
                  <a:schemeClr val="tx1"/>
                </a:solidFill>
                <a:effectLst/>
                <a:latin typeface="Arial" panose="020B0604020202020204" pitchFamily="34" charset="0"/>
              </a:rPr>
              <a:t>.</a:t>
            </a:r>
            <a:endParaRPr kumimoji="0" lang="en-US" altLang="ar-SA" sz="19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endParaRPr lang="en-US" altLang="ar-SA" sz="1900" dirty="0">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endParaRPr kumimoji="0" lang="ar-SA" altLang="ar-SA" sz="19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19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 :</a:t>
            </a:r>
            <a:r>
              <a:rPr kumimoji="0" lang="ar-SA" altLang="ar-SA" sz="1900" b="0" i="0" u="none" strike="noStrike" cap="none" normalizeH="0" baseline="0" dirty="0">
                <a:ln>
                  <a:noFill/>
                </a:ln>
                <a:solidFill>
                  <a:schemeClr val="tx1"/>
                </a:solidFill>
                <a:effectLst/>
                <a:latin typeface="Arial" panose="020B0604020202020204" pitchFamily="34" charset="0"/>
              </a:rPr>
              <a:t> </a:t>
            </a:r>
            <a:r>
              <a:rPr kumimoji="0" lang="ar-SA" altLang="ar-SA" sz="19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دراسة الحملات التسويقية التي تمت في ربع السنة الثالث من 2024 لتعميمها كـ "كتيب تشغيل" دائم</a:t>
            </a:r>
            <a:r>
              <a:rPr kumimoji="0" lang="ar-SA" altLang="ar-SA" sz="1900" b="0" i="0" u="none" strike="noStrike" cap="none" normalizeH="0" baseline="0" dirty="0">
                <a:ln>
                  <a:noFill/>
                </a:ln>
                <a:solidFill>
                  <a:schemeClr val="tx1"/>
                </a:solidFill>
                <a:effectLst/>
                <a:latin typeface="Arial" panose="020B0604020202020204" pitchFamily="34" charset="0"/>
              </a:rPr>
              <a:t>.</a:t>
            </a:r>
          </a:p>
        </p:txBody>
      </p:sp>
      <p:pic>
        <p:nvPicPr>
          <p:cNvPr id="8" name="صورة 7">
            <a:extLst>
              <a:ext uri="{FF2B5EF4-FFF2-40B4-BE49-F238E27FC236}">
                <a16:creationId xmlns:a16="http://schemas.microsoft.com/office/drawing/2014/main" id="{E8ABB52A-B1E2-456F-154D-3EA87B25C880}"/>
              </a:ext>
            </a:extLst>
          </p:cNvPr>
          <p:cNvPicPr>
            <a:picLocks noChangeAspect="1"/>
          </p:cNvPicPr>
          <p:nvPr/>
        </p:nvPicPr>
        <p:blipFill>
          <a:blip r:embed="rId2"/>
          <a:stretch>
            <a:fillRect/>
          </a:stretch>
        </p:blipFill>
        <p:spPr>
          <a:xfrm>
            <a:off x="467360" y="1783240"/>
            <a:ext cx="6779637" cy="4033520"/>
          </a:xfrm>
          <a:prstGeom prst="rect">
            <a:avLst/>
          </a:prstGeom>
        </p:spPr>
      </p:pic>
    </p:spTree>
    <p:extLst>
      <p:ext uri="{BB962C8B-B14F-4D97-AF65-F5344CB8AC3E}">
        <p14:creationId xmlns:p14="http://schemas.microsoft.com/office/powerpoint/2010/main" val="186336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4C28CDE-58BC-9FDA-5E3B-E8680B06D243}"/>
              </a:ext>
            </a:extLst>
          </p:cNvPr>
          <p:cNvSpPr>
            <a:spLocks noGrp="1"/>
          </p:cNvSpPr>
          <p:nvPr>
            <p:ph type="title"/>
          </p:nvPr>
        </p:nvSpPr>
        <p:spPr/>
        <p:txBody>
          <a:bodyPr/>
          <a:lstStyle/>
          <a:p>
            <a:r>
              <a:rPr lang="ar-SA" dirty="0">
                <a:solidFill>
                  <a:srgbClr val="00B050"/>
                </a:solidFill>
                <a:latin typeface="Arial" panose="020B0604020202020204" pitchFamily="34" charset="0"/>
                <a:cs typeface="Arial" panose="020B0604020202020204" pitchFamily="34" charset="0"/>
              </a:rPr>
              <a:t>الجغرافيا الشرائية (</a:t>
            </a:r>
            <a:r>
              <a:rPr lang="en-US" dirty="0">
                <a:solidFill>
                  <a:srgbClr val="00B050"/>
                </a:solidFill>
                <a:latin typeface="Arial" panose="020B0604020202020204" pitchFamily="34" charset="0"/>
                <a:cs typeface="Arial" panose="020B0604020202020204" pitchFamily="34" charset="0"/>
              </a:rPr>
              <a:t>Branch Sales Leaderboard</a:t>
            </a:r>
            <a:r>
              <a:rPr lang="ar-SA" dirty="0">
                <a:solidFill>
                  <a:srgbClr val="00B050"/>
                </a:solidFill>
                <a:latin typeface="Arial" panose="020B0604020202020204" pitchFamily="34" charset="0"/>
                <a:cs typeface="Arial" panose="020B0604020202020204" pitchFamily="34" charset="0"/>
              </a:rPr>
              <a:t>)</a:t>
            </a:r>
          </a:p>
        </p:txBody>
      </p:sp>
      <p:sp>
        <p:nvSpPr>
          <p:cNvPr id="5" name="Rectangle 1">
            <a:extLst>
              <a:ext uri="{FF2B5EF4-FFF2-40B4-BE49-F238E27FC236}">
                <a16:creationId xmlns:a16="http://schemas.microsoft.com/office/drawing/2014/main" id="{55843A4E-F515-96FA-D6FC-67929B52FC2B}"/>
              </a:ext>
            </a:extLst>
          </p:cNvPr>
          <p:cNvSpPr>
            <a:spLocks noGrp="1" noChangeArrowheads="1"/>
          </p:cNvSpPr>
          <p:nvPr>
            <p:ph sz="half" idx="1"/>
          </p:nvPr>
        </p:nvSpPr>
        <p:spPr bwMode="auto">
          <a:xfrm flipH="1">
            <a:off x="7447280" y="1838960"/>
            <a:ext cx="371348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 :</a:t>
            </a:r>
            <a:r>
              <a:rPr kumimoji="0" lang="ar-SA" altLang="ar-SA" b="0" i="0" u="none" strike="noStrike" cap="none" normalizeH="0" baseline="0" dirty="0">
                <a:ln>
                  <a:noFill/>
                </a:ln>
                <a:solidFill>
                  <a:schemeClr val="tx1"/>
                </a:solidFill>
                <a:effectLst/>
                <a:latin typeface="Arial" panose="020B0604020202020204" pitchFamily="34" charset="0"/>
              </a:rPr>
              <a:t> </a:t>
            </a:r>
            <a:r>
              <a:rPr kumimoji="0" lang="ar-SA" altLang="ar-SA" b="0" i="0" u="none" strike="noStrike" cap="none" normalizeH="0" baseline="0" dirty="0">
                <a:ln>
                  <a:noFill/>
                </a:ln>
                <a:solidFill>
                  <a:schemeClr val="tx1"/>
                </a:solidFill>
                <a:effectLst/>
                <a:latin typeface="Arial" panose="020B0604020202020204" pitchFamily="34" charset="0"/>
                <a:cs typeface="Arial" panose="020B0604020202020204" pitchFamily="34" charset="0"/>
              </a:rPr>
              <a:t>فرع الإسكندرية ليس مجرد فرع، بل هو محرك مالي بـ 8.6 مليون جنيه. يليه أسيوط وطنطا. هذا التوزيع يوضح تفاوت القوة الشرائية بين الأقاليم</a:t>
            </a:r>
            <a:r>
              <a:rPr kumimoji="0" lang="ar-SA" altLang="ar-SA"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 :</a:t>
            </a:r>
            <a:r>
              <a:rPr kumimoji="0" lang="ar-SA" altLang="ar-SA" b="0" i="0" u="none" strike="noStrike" cap="none" normalizeH="0" baseline="0" dirty="0">
                <a:ln>
                  <a:noFill/>
                </a:ln>
                <a:solidFill>
                  <a:schemeClr val="tx1"/>
                </a:solidFill>
                <a:effectLst/>
                <a:latin typeface="Arial" panose="020B0604020202020204" pitchFamily="34" charset="0"/>
              </a:rPr>
              <a:t> </a:t>
            </a:r>
            <a:r>
              <a:rPr kumimoji="0" lang="ar-SA" altLang="ar-SA"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تحويل فرع الإسكندرية إلى</a:t>
            </a:r>
            <a:r>
              <a:rPr kumimoji="0" lang="ar-SA" altLang="ar-SA" b="0" i="0" u="none" strike="noStrike" cap="none" normalizeH="0" baseline="0" dirty="0">
                <a:ln>
                  <a:noFill/>
                </a:ln>
                <a:solidFill>
                  <a:schemeClr val="tx1"/>
                </a:solidFill>
                <a:effectLst/>
                <a:latin typeface="Arial" panose="020B0604020202020204" pitchFamily="34" charset="0"/>
              </a:rPr>
              <a:t> "</a:t>
            </a:r>
            <a:r>
              <a:rPr kumimoji="0" lang="ar-SA" altLang="ar-SA" b="0" i="0" u="none" strike="noStrike" cap="none" normalizeH="0" baseline="0" dirty="0" err="1">
                <a:ln>
                  <a:noFill/>
                </a:ln>
                <a:solidFill>
                  <a:schemeClr val="tx1"/>
                </a:solidFill>
                <a:effectLst/>
                <a:latin typeface="Arial" panose="020B0604020202020204" pitchFamily="34" charset="0"/>
              </a:rPr>
              <a:t>Flagship</a:t>
            </a:r>
            <a:r>
              <a:rPr kumimoji="0" lang="ar-SA" altLang="ar-SA" b="0" i="0" u="none" strike="noStrike" cap="none" normalizeH="0" baseline="0" dirty="0">
                <a:ln>
                  <a:noFill/>
                </a:ln>
                <a:solidFill>
                  <a:schemeClr val="tx1"/>
                </a:solidFill>
                <a:effectLst/>
                <a:latin typeface="Arial" panose="020B0604020202020204" pitchFamily="34" charset="0"/>
              </a:rPr>
              <a:t> </a:t>
            </a:r>
            <a:r>
              <a:rPr kumimoji="0" lang="ar-SA" altLang="ar-SA" b="0" i="0" u="none" strike="noStrike" cap="none" normalizeH="0" baseline="0" dirty="0" err="1">
                <a:ln>
                  <a:noFill/>
                </a:ln>
                <a:solidFill>
                  <a:schemeClr val="tx1"/>
                </a:solidFill>
                <a:effectLst/>
                <a:latin typeface="Arial" panose="020B0604020202020204" pitchFamily="34" charset="0"/>
              </a:rPr>
              <a:t>Store</a:t>
            </a:r>
            <a:r>
              <a:rPr kumimoji="0" lang="ar-SA" altLang="ar-SA" b="0" i="0" u="none" strike="noStrike" cap="none" normalizeH="0" baseline="0" dirty="0">
                <a:ln>
                  <a:noFill/>
                </a:ln>
                <a:solidFill>
                  <a:schemeClr val="tx1"/>
                </a:solidFill>
                <a:effectLst/>
                <a:latin typeface="Arial" panose="020B0604020202020204" pitchFamily="34" charset="0"/>
              </a:rPr>
              <a:t>" </a:t>
            </a:r>
            <a:r>
              <a:rPr kumimoji="0" lang="ar-SA" altLang="ar-SA" b="0" i="0" u="none" strike="noStrike" cap="none" normalizeH="0" baseline="0" dirty="0">
                <a:ln>
                  <a:noFill/>
                </a:ln>
                <a:solidFill>
                  <a:schemeClr val="tx1"/>
                </a:solidFill>
                <a:effectLst/>
                <a:latin typeface="Arial" panose="020B0604020202020204" pitchFamily="34" charset="0"/>
                <a:cs typeface="Arial" panose="020B0604020202020204" pitchFamily="34" charset="0"/>
              </a:rPr>
              <a:t>(فرع رئيسي) وتجربة المنتجات الجديدة فيه أولاً قبل تعميمها</a:t>
            </a:r>
            <a:r>
              <a:rPr kumimoji="0" lang="ar-SA" altLang="ar-SA" b="0" i="0" u="none" strike="noStrike" cap="none" normalizeH="0" baseline="0" dirty="0">
                <a:ln>
                  <a:noFill/>
                </a:ln>
                <a:solidFill>
                  <a:schemeClr val="tx1"/>
                </a:solidFill>
                <a:effectLst/>
                <a:latin typeface="Arial" panose="020B0604020202020204" pitchFamily="34" charset="0"/>
              </a:rPr>
              <a:t>.</a:t>
            </a:r>
          </a:p>
        </p:txBody>
      </p:sp>
      <p:pic>
        <p:nvPicPr>
          <p:cNvPr id="9" name="صورة 8">
            <a:extLst>
              <a:ext uri="{FF2B5EF4-FFF2-40B4-BE49-F238E27FC236}">
                <a16:creationId xmlns:a16="http://schemas.microsoft.com/office/drawing/2014/main" id="{83A9891A-05FA-761B-792C-A4C17A8D1F4A}"/>
              </a:ext>
            </a:extLst>
          </p:cNvPr>
          <p:cNvPicPr>
            <a:picLocks noChangeAspect="1"/>
          </p:cNvPicPr>
          <p:nvPr/>
        </p:nvPicPr>
        <p:blipFill>
          <a:blip r:embed="rId2"/>
          <a:stretch>
            <a:fillRect/>
          </a:stretch>
        </p:blipFill>
        <p:spPr>
          <a:xfrm>
            <a:off x="426721" y="1767840"/>
            <a:ext cx="6583680" cy="4092150"/>
          </a:xfrm>
          <a:prstGeom prst="rect">
            <a:avLst/>
          </a:prstGeom>
        </p:spPr>
      </p:pic>
    </p:spTree>
    <p:extLst>
      <p:ext uri="{BB962C8B-B14F-4D97-AF65-F5344CB8AC3E}">
        <p14:creationId xmlns:p14="http://schemas.microsoft.com/office/powerpoint/2010/main" val="3311838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75DD-B5FF-02F5-98CE-BA05179329A5}"/>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C7739D76-7574-1754-A7F8-17667EC21884}"/>
              </a:ext>
            </a:extLst>
          </p:cNvPr>
          <p:cNvSpPr>
            <a:spLocks noGrp="1"/>
          </p:cNvSpPr>
          <p:nvPr>
            <p:ph type="title"/>
          </p:nvPr>
        </p:nvSpPr>
        <p:spPr>
          <a:xfrm flipH="1">
            <a:off x="1955800" y="355600"/>
            <a:ext cx="9601200" cy="589598"/>
          </a:xfrm>
        </p:spPr>
        <p:txBody>
          <a:bodyPr/>
          <a:lstStyle/>
          <a:p>
            <a:r>
              <a:rPr lang="ar-SA" dirty="0">
                <a:solidFill>
                  <a:srgbClr val="00B050"/>
                </a:solidFill>
                <a:latin typeface="Arial" panose="020B0604020202020204" pitchFamily="34" charset="0"/>
                <a:cs typeface="Arial" panose="020B0604020202020204" pitchFamily="34" charset="0"/>
              </a:rPr>
              <a:t>تحليل المحافظات (</a:t>
            </a:r>
            <a:r>
              <a:rPr lang="en-US" dirty="0">
                <a:solidFill>
                  <a:srgbClr val="00B050"/>
                </a:solidFill>
                <a:latin typeface="Arial" panose="020B0604020202020204" pitchFamily="34" charset="0"/>
                <a:cs typeface="Arial" panose="020B0604020202020204" pitchFamily="34" charset="0"/>
              </a:rPr>
              <a:t>Top Performing Cities</a:t>
            </a:r>
            <a:r>
              <a:rPr lang="ar-SA" dirty="0">
                <a:solidFill>
                  <a:srgbClr val="00B050"/>
                </a:solidFill>
                <a:latin typeface="Arial" panose="020B0604020202020204" pitchFamily="34" charset="0"/>
                <a:cs typeface="Arial" panose="020B0604020202020204" pitchFamily="34" charset="0"/>
              </a:rPr>
              <a:t>)</a:t>
            </a:r>
          </a:p>
        </p:txBody>
      </p:sp>
      <p:sp>
        <p:nvSpPr>
          <p:cNvPr id="4" name="Rectangle 2">
            <a:extLst>
              <a:ext uri="{FF2B5EF4-FFF2-40B4-BE49-F238E27FC236}">
                <a16:creationId xmlns:a16="http://schemas.microsoft.com/office/drawing/2014/main" id="{92AF3E2F-2B29-741E-A56B-E83022F9875F}"/>
              </a:ext>
            </a:extLst>
          </p:cNvPr>
          <p:cNvSpPr>
            <a:spLocks noGrp="1" noChangeArrowheads="1"/>
          </p:cNvSpPr>
          <p:nvPr>
            <p:ph sz="half" idx="1"/>
          </p:nvPr>
        </p:nvSpPr>
        <p:spPr bwMode="auto">
          <a:xfrm>
            <a:off x="7700962" y="1536175"/>
            <a:ext cx="375975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أسوان والبحيرة تتصدران من حيث عدد العمليات. هذا يعني أن العميل في المناطق البعيدة يثق في منتجاتنا ويطلبها بكثرة رغم بعد المسافة.</a:t>
            </a:r>
          </a:p>
          <a:p>
            <a:pPr algn="just" eaLnBrk="0" fontAlgn="base" hangingPunct="0">
              <a:lnSpc>
                <a:spcPct val="100000"/>
              </a:lnSpc>
              <a:spcBef>
                <a:spcPct val="0"/>
              </a:spcBef>
              <a:spcAft>
                <a:spcPct val="0"/>
              </a:spcAft>
              <a:buClrTx/>
              <a:buSzTx/>
              <a:buFont typeface="Arial" panose="020B0604020202020204" pitchFamily="34" charset="0"/>
              <a:buChar char="•"/>
            </a:pPr>
            <a:endPar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تحسين اللوجستيات لمدن الصعيد (أسوان والمنيا) لتقليل زمن التوصيل، مما سيزيد من رضا العملاء وتكرار الشراء.</a:t>
            </a:r>
          </a:p>
        </p:txBody>
      </p:sp>
      <p:pic>
        <p:nvPicPr>
          <p:cNvPr id="7" name="صورة 6">
            <a:extLst>
              <a:ext uri="{FF2B5EF4-FFF2-40B4-BE49-F238E27FC236}">
                <a16:creationId xmlns:a16="http://schemas.microsoft.com/office/drawing/2014/main" id="{176F4FE1-0E0E-313C-8F74-03DC7232B72B}"/>
              </a:ext>
            </a:extLst>
          </p:cNvPr>
          <p:cNvPicPr>
            <a:picLocks noChangeAspect="1"/>
          </p:cNvPicPr>
          <p:nvPr/>
        </p:nvPicPr>
        <p:blipFill>
          <a:blip r:embed="rId2"/>
          <a:stretch>
            <a:fillRect/>
          </a:stretch>
        </p:blipFill>
        <p:spPr>
          <a:xfrm>
            <a:off x="883919" y="1046480"/>
            <a:ext cx="6421121" cy="5069839"/>
          </a:xfrm>
          <a:prstGeom prst="rect">
            <a:avLst/>
          </a:prstGeom>
        </p:spPr>
      </p:pic>
    </p:spTree>
    <p:extLst>
      <p:ext uri="{BB962C8B-B14F-4D97-AF65-F5344CB8AC3E}">
        <p14:creationId xmlns:p14="http://schemas.microsoft.com/office/powerpoint/2010/main" val="437479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0C3C-0D46-6326-C0C4-8F8A6AE5422C}"/>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A2363E74-61E0-679B-1AEF-65822A5C7CE8}"/>
              </a:ext>
            </a:extLst>
          </p:cNvPr>
          <p:cNvSpPr>
            <a:spLocks noGrp="1"/>
          </p:cNvSpPr>
          <p:nvPr>
            <p:ph type="title"/>
          </p:nvPr>
        </p:nvSpPr>
        <p:spPr>
          <a:xfrm flipH="1">
            <a:off x="1923547" y="533241"/>
            <a:ext cx="9601200" cy="660718"/>
          </a:xfrm>
        </p:spPr>
        <p:txBody>
          <a:bodyPr/>
          <a:lstStyle/>
          <a:p>
            <a:r>
              <a:rPr lang="ar-SA" dirty="0">
                <a:solidFill>
                  <a:srgbClr val="00B050"/>
                </a:solidFill>
                <a:latin typeface="Arial" panose="020B0604020202020204" pitchFamily="34" charset="0"/>
                <a:cs typeface="Arial" panose="020B0604020202020204" pitchFamily="34" charset="0"/>
              </a:rPr>
              <a:t>هيكل الدفع والسيولة (</a:t>
            </a:r>
            <a:r>
              <a:rPr lang="en-US" dirty="0">
                <a:solidFill>
                  <a:srgbClr val="00B050"/>
                </a:solidFill>
                <a:latin typeface="Arial" panose="020B0604020202020204" pitchFamily="34" charset="0"/>
                <a:cs typeface="Arial" panose="020B0604020202020204" pitchFamily="34" charset="0"/>
              </a:rPr>
              <a:t>Payment Method Mix</a:t>
            </a:r>
            <a:r>
              <a:rPr lang="ar-SA" dirty="0">
                <a:solidFill>
                  <a:srgbClr val="00B050"/>
                </a:solidFill>
                <a:latin typeface="Arial" panose="020B0604020202020204" pitchFamily="34" charset="0"/>
                <a:cs typeface="Arial" panose="020B0604020202020204" pitchFamily="34" charset="0"/>
              </a:rPr>
              <a:t>)</a:t>
            </a:r>
          </a:p>
        </p:txBody>
      </p:sp>
      <p:sp>
        <p:nvSpPr>
          <p:cNvPr id="5" name="Rectangle 2">
            <a:extLst>
              <a:ext uri="{FF2B5EF4-FFF2-40B4-BE49-F238E27FC236}">
                <a16:creationId xmlns:a16="http://schemas.microsoft.com/office/drawing/2014/main" id="{0F3AE556-39C0-1C7C-78D6-1423F5622BBA}"/>
              </a:ext>
            </a:extLst>
          </p:cNvPr>
          <p:cNvSpPr>
            <a:spLocks noGrp="1" noChangeArrowheads="1"/>
          </p:cNvSpPr>
          <p:nvPr>
            <p:ph sz="half" idx="1"/>
          </p:nvPr>
        </p:nvSpPr>
        <p:spPr bwMode="auto">
          <a:xfrm>
            <a:off x="7172960" y="2116852"/>
            <a:ext cx="435178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نلاحظ تنوعاً ذكياً؛ التقسيط يمثل 26.6% وهو المحرك الأساسي للأجهزة الكبيرة، بينما الكارت والنقدي يضمنان تدفقاً نقدياً فورياً</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Cash</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Flow</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lang="ar-SA" altLang="ar-SA" sz="2400" dirty="0">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زيادة الشراكات مع البنوك لتقديم "تقسيط بفوائد 0%" في المواسم الهادئة لتحريك المبيعات</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8" name="صورة 7">
            <a:extLst>
              <a:ext uri="{FF2B5EF4-FFF2-40B4-BE49-F238E27FC236}">
                <a16:creationId xmlns:a16="http://schemas.microsoft.com/office/drawing/2014/main" id="{19345883-B320-48FD-5AA9-08E972349A7A}"/>
              </a:ext>
            </a:extLst>
          </p:cNvPr>
          <p:cNvPicPr>
            <a:picLocks noChangeAspect="1"/>
          </p:cNvPicPr>
          <p:nvPr/>
        </p:nvPicPr>
        <p:blipFill>
          <a:blip r:embed="rId2"/>
          <a:stretch>
            <a:fillRect/>
          </a:stretch>
        </p:blipFill>
        <p:spPr>
          <a:xfrm>
            <a:off x="-365760" y="1193959"/>
            <a:ext cx="7538720" cy="4800441"/>
          </a:xfrm>
          <a:prstGeom prst="rect">
            <a:avLst/>
          </a:prstGeom>
        </p:spPr>
      </p:pic>
    </p:spTree>
    <p:extLst>
      <p:ext uri="{BB962C8B-B14F-4D97-AF65-F5344CB8AC3E}">
        <p14:creationId xmlns:p14="http://schemas.microsoft.com/office/powerpoint/2010/main" val="421496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90B0-CE64-611C-AF36-0E3833959301}"/>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AE7B8CC5-51CA-CDF8-F105-FAA753CE44EB}"/>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كفاءة الدورة التشغيلية (</a:t>
            </a:r>
            <a:r>
              <a:rPr lang="en-US" dirty="0">
                <a:solidFill>
                  <a:srgbClr val="00B050"/>
                </a:solidFill>
                <a:latin typeface="Arial" panose="020B0604020202020204" pitchFamily="34" charset="0"/>
                <a:cs typeface="Arial" panose="020B0604020202020204" pitchFamily="34" charset="0"/>
              </a:rPr>
              <a:t>Order Status</a:t>
            </a:r>
            <a:r>
              <a:rPr lang="ar-SA" dirty="0">
                <a:solidFill>
                  <a:srgbClr val="00B050"/>
                </a:solidFill>
                <a:latin typeface="Arial" panose="020B0604020202020204" pitchFamily="34" charset="0"/>
                <a:cs typeface="Arial" panose="020B0604020202020204" pitchFamily="34" charset="0"/>
              </a:rPr>
              <a:t>)</a:t>
            </a:r>
          </a:p>
        </p:txBody>
      </p:sp>
      <p:sp>
        <p:nvSpPr>
          <p:cNvPr id="4" name="Rectangle 2">
            <a:extLst>
              <a:ext uri="{FF2B5EF4-FFF2-40B4-BE49-F238E27FC236}">
                <a16:creationId xmlns:a16="http://schemas.microsoft.com/office/drawing/2014/main" id="{51EBC4AF-2F02-7A9E-CA1B-D02A7AB3D0B9}"/>
              </a:ext>
            </a:extLst>
          </p:cNvPr>
          <p:cNvSpPr>
            <a:spLocks noGrp="1" noChangeArrowheads="1"/>
          </p:cNvSpPr>
          <p:nvPr>
            <p:ph sz="half" idx="1"/>
          </p:nvPr>
        </p:nvSpPr>
        <p:spPr bwMode="auto">
          <a:xfrm>
            <a:off x="7172326" y="2116923"/>
            <a:ext cx="435242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نجاح كبير في تسليم الطلبات، حيث أن الأغلبية العظمى في حالة</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Completed</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هذا يعكس قوة فريق المخازن والتوصيل</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L="0" indent="0" algn="just" eaLnBrk="0" fontAlgn="base" hangingPunct="0">
              <a:lnSpc>
                <a:spcPct val="100000"/>
              </a:lnSpc>
              <a:spcBef>
                <a:spcPct val="0"/>
              </a:spcBef>
              <a:spcAft>
                <a:spcPct val="0"/>
              </a:spcAft>
              <a:buClrTx/>
              <a:buSzTx/>
              <a:buNone/>
            </a:pPr>
            <a:endParaRPr lang="ar-SA" altLang="ar-SA" sz="2400" dirty="0">
              <a:latin typeface="Arial" panose="020B0604020202020204" pitchFamily="34" charset="0"/>
            </a:endParaRPr>
          </a:p>
          <a:p>
            <a:pPr marL="0" indent="0" algn="just" eaLnBrk="0" fontAlgn="base" hangingPunct="0">
              <a:lnSpc>
                <a:spcPct val="100000"/>
              </a:lnSpc>
              <a:spcBef>
                <a:spcPct val="0"/>
              </a:spcBef>
              <a:spcAft>
                <a:spcPct val="0"/>
              </a:spcAft>
              <a:buClrTx/>
              <a:buSzTx/>
              <a:buNone/>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تقليل نسبة الطلبات "قيد التجهيز</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Processing</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من خلال أتمتة نظام إدارة المخازن</a:t>
            </a:r>
            <a:r>
              <a:rPr kumimoji="0" lang="ar-SA" altLang="ar-SA" sz="2400" b="0" i="0" u="none" strike="noStrike" cap="none" normalizeH="0" baseline="0" dirty="0">
                <a:ln>
                  <a:noFill/>
                </a:ln>
                <a:solidFill>
                  <a:schemeClr val="tx1"/>
                </a:solidFill>
                <a:effectLst/>
                <a:latin typeface="Arial" panose="020B0604020202020204" pitchFamily="34" charset="0"/>
              </a:rPr>
              <a:t> (WMS).</a:t>
            </a:r>
          </a:p>
        </p:txBody>
      </p:sp>
      <p:pic>
        <p:nvPicPr>
          <p:cNvPr id="7" name="صورة 6">
            <a:extLst>
              <a:ext uri="{FF2B5EF4-FFF2-40B4-BE49-F238E27FC236}">
                <a16:creationId xmlns:a16="http://schemas.microsoft.com/office/drawing/2014/main" id="{BD5CBAF5-B378-E5FD-91B9-935400766FD8}"/>
              </a:ext>
            </a:extLst>
          </p:cNvPr>
          <p:cNvPicPr>
            <a:picLocks noChangeAspect="1"/>
          </p:cNvPicPr>
          <p:nvPr/>
        </p:nvPicPr>
        <p:blipFill>
          <a:blip r:embed="rId2"/>
          <a:stretch>
            <a:fillRect/>
          </a:stretch>
        </p:blipFill>
        <p:spPr>
          <a:xfrm>
            <a:off x="741680" y="1072039"/>
            <a:ext cx="5537200" cy="5064601"/>
          </a:xfrm>
          <a:prstGeom prst="rect">
            <a:avLst/>
          </a:prstGeom>
        </p:spPr>
      </p:pic>
    </p:spTree>
    <p:extLst>
      <p:ext uri="{BB962C8B-B14F-4D97-AF65-F5344CB8AC3E}">
        <p14:creationId xmlns:p14="http://schemas.microsoft.com/office/powerpoint/2010/main" val="334197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5D536-0EA5-57DB-16DB-EAE52AF7F57F}"/>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225893A2-0D99-12B9-7775-0550C83BD3FE}"/>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لوحة تحليل المبيعات (</a:t>
            </a:r>
            <a:r>
              <a:rPr lang="en-US" dirty="0">
                <a:solidFill>
                  <a:srgbClr val="00B050"/>
                </a:solidFill>
                <a:latin typeface="Arial" panose="020B0604020202020204" pitchFamily="34" charset="0"/>
                <a:cs typeface="Arial" panose="020B0604020202020204" pitchFamily="34" charset="0"/>
              </a:rPr>
              <a:t>Sales_1</a:t>
            </a:r>
            <a:r>
              <a:rPr lang="ar-SA" dirty="0">
                <a:solidFill>
                  <a:srgbClr val="00B050"/>
                </a:solidFill>
                <a:latin typeface="Arial" panose="020B0604020202020204" pitchFamily="34" charset="0"/>
                <a:cs typeface="Arial" panose="020B0604020202020204" pitchFamily="34" charset="0"/>
              </a:rPr>
              <a:t>)</a:t>
            </a:r>
          </a:p>
        </p:txBody>
      </p:sp>
      <p:pic>
        <p:nvPicPr>
          <p:cNvPr id="5" name="صورة 4">
            <a:extLst>
              <a:ext uri="{FF2B5EF4-FFF2-40B4-BE49-F238E27FC236}">
                <a16:creationId xmlns:a16="http://schemas.microsoft.com/office/drawing/2014/main" id="{4B00031F-3804-AF37-CE70-D86635EA9B7F}"/>
              </a:ext>
            </a:extLst>
          </p:cNvPr>
          <p:cNvPicPr>
            <a:picLocks noChangeAspect="1"/>
          </p:cNvPicPr>
          <p:nvPr/>
        </p:nvPicPr>
        <p:blipFill>
          <a:blip r:embed="rId2"/>
          <a:stretch>
            <a:fillRect/>
          </a:stretch>
        </p:blipFill>
        <p:spPr>
          <a:xfrm>
            <a:off x="1249260" y="1072038"/>
            <a:ext cx="10129940" cy="5104209"/>
          </a:xfrm>
          <a:prstGeom prst="rect">
            <a:avLst/>
          </a:prstGeom>
        </p:spPr>
      </p:pic>
    </p:spTree>
    <p:extLst>
      <p:ext uri="{BB962C8B-B14F-4D97-AF65-F5344CB8AC3E}">
        <p14:creationId xmlns:p14="http://schemas.microsoft.com/office/powerpoint/2010/main" val="1870639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B30A4-9C02-8C66-A10F-3525D3315E7D}"/>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34969796-21F5-F8F9-BCED-19D3AAC5C52C}"/>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لوحة تحليل المبيعات (</a:t>
            </a:r>
            <a:r>
              <a:rPr lang="en-US" dirty="0">
                <a:solidFill>
                  <a:srgbClr val="00B050"/>
                </a:solidFill>
                <a:latin typeface="Arial" panose="020B0604020202020204" pitchFamily="34" charset="0"/>
                <a:cs typeface="Arial" panose="020B0604020202020204" pitchFamily="34" charset="0"/>
              </a:rPr>
              <a:t>Sales_2</a:t>
            </a:r>
            <a:r>
              <a:rPr lang="ar-SA" dirty="0">
                <a:solidFill>
                  <a:srgbClr val="00B050"/>
                </a:solidFill>
                <a:latin typeface="Arial" panose="020B0604020202020204" pitchFamily="34" charset="0"/>
                <a:cs typeface="Arial" panose="020B0604020202020204" pitchFamily="34" charset="0"/>
              </a:rPr>
              <a:t>)</a:t>
            </a:r>
          </a:p>
        </p:txBody>
      </p:sp>
      <p:pic>
        <p:nvPicPr>
          <p:cNvPr id="10" name="صورة 9">
            <a:extLst>
              <a:ext uri="{FF2B5EF4-FFF2-40B4-BE49-F238E27FC236}">
                <a16:creationId xmlns:a16="http://schemas.microsoft.com/office/drawing/2014/main" id="{33FEEBB8-D8BD-7312-5970-68B7F2A5F89E}"/>
              </a:ext>
            </a:extLst>
          </p:cNvPr>
          <p:cNvPicPr>
            <a:picLocks noChangeAspect="1"/>
          </p:cNvPicPr>
          <p:nvPr/>
        </p:nvPicPr>
        <p:blipFill>
          <a:blip r:embed="rId2"/>
          <a:stretch>
            <a:fillRect/>
          </a:stretch>
        </p:blipFill>
        <p:spPr>
          <a:xfrm>
            <a:off x="1230208" y="1072039"/>
            <a:ext cx="9731583" cy="5108019"/>
          </a:xfrm>
          <a:prstGeom prst="rect">
            <a:avLst/>
          </a:prstGeom>
        </p:spPr>
      </p:pic>
    </p:spTree>
    <p:extLst>
      <p:ext uri="{BB962C8B-B14F-4D97-AF65-F5344CB8AC3E}">
        <p14:creationId xmlns:p14="http://schemas.microsoft.com/office/powerpoint/2010/main" val="790019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50"/>
            </a:gs>
            <a:gs pos="97000">
              <a:srgbClr val="00B050"/>
            </a:gs>
          </a:gsLst>
          <a:path path="circle">
            <a:fillToRect l="50000" t="50000" r="50000" b="50000"/>
          </a:path>
          <a:tileRect/>
        </a:gradFill>
        <a:effectLst/>
      </p:bgPr>
    </p:bg>
    <p:spTree>
      <p:nvGrpSpPr>
        <p:cNvPr id="1" name="">
          <a:extLst>
            <a:ext uri="{FF2B5EF4-FFF2-40B4-BE49-F238E27FC236}">
              <a16:creationId xmlns:a16="http://schemas.microsoft.com/office/drawing/2014/main" id="{560EFF6B-2398-393D-56CC-62F925D6ADB6}"/>
            </a:ext>
          </a:extLst>
        </p:cNvPr>
        <p:cNvGrpSpPr/>
        <p:nvPr/>
      </p:nvGrpSpPr>
      <p:grpSpPr>
        <a:xfrm>
          <a:off x="0" y="0"/>
          <a:ext cx="0" cy="0"/>
          <a:chOff x="0" y="0"/>
          <a:chExt cx="0" cy="0"/>
        </a:xfrm>
      </p:grpSpPr>
      <p:sp>
        <p:nvSpPr>
          <p:cNvPr id="4" name="عنوان 3">
            <a:extLst>
              <a:ext uri="{FF2B5EF4-FFF2-40B4-BE49-F238E27FC236}">
                <a16:creationId xmlns:a16="http://schemas.microsoft.com/office/drawing/2014/main" id="{0988943F-701D-6587-5DC8-5D504F6424BC}"/>
              </a:ext>
            </a:extLst>
          </p:cNvPr>
          <p:cNvSpPr>
            <a:spLocks noGrp="1"/>
          </p:cNvSpPr>
          <p:nvPr>
            <p:ph type="title"/>
          </p:nvPr>
        </p:nvSpPr>
        <p:spPr/>
        <p:txBody>
          <a:bodyPr/>
          <a:lstStyle/>
          <a:p>
            <a:r>
              <a:rPr lang="ar-SA" dirty="0">
                <a:latin typeface="Almarai" pitchFamily="2" charset="-78"/>
                <a:cs typeface="Almarai" pitchFamily="2" charset="-78"/>
              </a:rPr>
              <a:t>الجزء الثاني : تحليل المنتجات - </a:t>
            </a:r>
            <a:r>
              <a:rPr lang="en-US" dirty="0">
                <a:latin typeface="Almarai" pitchFamily="2" charset="-78"/>
                <a:cs typeface="Almarai" pitchFamily="2" charset="-78"/>
              </a:rPr>
              <a:t>Product Insights </a:t>
            </a:r>
            <a:endParaRPr lang="ar-SA" dirty="0">
              <a:latin typeface="Almarai" pitchFamily="2" charset="-78"/>
              <a:cs typeface="Almarai" pitchFamily="2" charset="-78"/>
            </a:endParaRPr>
          </a:p>
        </p:txBody>
      </p:sp>
    </p:spTree>
    <p:extLst>
      <p:ext uri="{BB962C8B-B14F-4D97-AF65-F5344CB8AC3E}">
        <p14:creationId xmlns:p14="http://schemas.microsoft.com/office/powerpoint/2010/main" val="214209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14C6A-6BE6-A4DD-C5E6-3BDC91F62975}"/>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05C7AB3B-7BE2-84C1-760A-DBBC04259BB8}"/>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تحليل الفئات الاستراتيجية (</a:t>
            </a:r>
            <a:r>
              <a:rPr lang="en-US" dirty="0">
                <a:solidFill>
                  <a:srgbClr val="00B050"/>
                </a:solidFill>
                <a:latin typeface="Arial" panose="020B0604020202020204" pitchFamily="34" charset="0"/>
                <a:cs typeface="Arial" panose="020B0604020202020204" pitchFamily="34" charset="0"/>
              </a:rPr>
              <a:t>(Product Categories</a:t>
            </a:r>
          </a:p>
        </p:txBody>
      </p:sp>
      <p:sp>
        <p:nvSpPr>
          <p:cNvPr id="4" name="Rectangle 2">
            <a:extLst>
              <a:ext uri="{FF2B5EF4-FFF2-40B4-BE49-F238E27FC236}">
                <a16:creationId xmlns:a16="http://schemas.microsoft.com/office/drawing/2014/main" id="{07C01C01-4AD0-E0F3-4954-AEF785C94271}"/>
              </a:ext>
            </a:extLst>
          </p:cNvPr>
          <p:cNvSpPr>
            <a:spLocks noGrp="1" noChangeArrowheads="1"/>
          </p:cNvSpPr>
          <p:nvPr>
            <p:ph sz="half" idx="1"/>
          </p:nvPr>
        </p:nvSpPr>
        <p:spPr bwMode="auto">
          <a:xfrm>
            <a:off x="7172326" y="2200023"/>
            <a:ext cx="4352422" cy="3250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الشرح:</a:t>
            </a:r>
            <a:r>
              <a:rPr lang="ar-SA" sz="2400" dirty="0">
                <a:latin typeface="Arial" panose="020B0604020202020204" pitchFamily="34" charset="0"/>
                <a:cs typeface="Arial" panose="020B0604020202020204" pitchFamily="34" charset="0"/>
              </a:rPr>
              <a:t> أجهزة التبريد تمثل القيمة المالية الكبرى. هي المنتجات التي يبنى عليها اسم الشركة وسمعتها في السوق.</a:t>
            </a:r>
          </a:p>
          <a:p>
            <a:pPr marL="0" indent="0" algn="just">
              <a:buClr>
                <a:schemeClr val="tx1"/>
              </a:buClr>
              <a:buNone/>
            </a:pPr>
            <a:endParaRPr lang="ar-SA" sz="2400" dirty="0">
              <a:latin typeface="Arial" panose="020B0604020202020204" pitchFamily="34" charset="0"/>
              <a:cs typeface="Arial" panose="020B0604020202020204" pitchFamily="34" charset="0"/>
            </a:endParaRPr>
          </a:p>
          <a:p>
            <a:pPr algn="just">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الاقتراح:</a:t>
            </a:r>
            <a:r>
              <a:rPr lang="ar-SA" sz="2400" dirty="0">
                <a:latin typeface="Arial" panose="020B0604020202020204" pitchFamily="34" charset="0"/>
                <a:cs typeface="Arial" panose="020B0604020202020204" pitchFamily="34" charset="0"/>
              </a:rPr>
              <a:t> عمل عقود توريد طويلة الأجل مع المصانع لضمان ثبات التكلفة وتجنب تقلبات الأسعار.</a:t>
            </a:r>
          </a:p>
          <a:p>
            <a:pPr algn="just" eaLnBrk="0" fontAlgn="base" hangingPunct="0">
              <a:lnSpc>
                <a:spcPct val="100000"/>
              </a:lnSpc>
              <a:spcBef>
                <a:spcPct val="0"/>
              </a:spcBef>
              <a:spcAft>
                <a:spcPct val="0"/>
              </a:spcAft>
              <a:buClr>
                <a:schemeClr val="tx1"/>
              </a:buClr>
              <a:buSzTx/>
              <a:buFont typeface="Arial" panose="020B0604020202020204" pitchFamily="34" charset="0"/>
              <a:buChar char="•"/>
            </a:pPr>
            <a:endPar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5" name="صورة 4">
            <a:extLst>
              <a:ext uri="{FF2B5EF4-FFF2-40B4-BE49-F238E27FC236}">
                <a16:creationId xmlns:a16="http://schemas.microsoft.com/office/drawing/2014/main" id="{05AAAE56-67EA-B887-5A88-922394865841}"/>
              </a:ext>
            </a:extLst>
          </p:cNvPr>
          <p:cNvPicPr>
            <a:picLocks noChangeAspect="1"/>
          </p:cNvPicPr>
          <p:nvPr/>
        </p:nvPicPr>
        <p:blipFill>
          <a:blip r:embed="rId2"/>
          <a:stretch>
            <a:fillRect/>
          </a:stretch>
        </p:blipFill>
        <p:spPr>
          <a:xfrm>
            <a:off x="223520" y="1488166"/>
            <a:ext cx="6948806" cy="4999153"/>
          </a:xfrm>
          <a:prstGeom prst="rect">
            <a:avLst/>
          </a:prstGeom>
        </p:spPr>
      </p:pic>
    </p:spTree>
    <p:extLst>
      <p:ext uri="{BB962C8B-B14F-4D97-AF65-F5344CB8AC3E}">
        <p14:creationId xmlns:p14="http://schemas.microsoft.com/office/powerpoint/2010/main" val="1070439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7725-3A61-C64A-5447-7BC53DFD68C0}"/>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FF1D0122-3F4B-1AE6-F067-0B67C3D7317B}"/>
              </a:ext>
            </a:extLst>
          </p:cNvPr>
          <p:cNvSpPr>
            <a:spLocks noGrp="1"/>
          </p:cNvSpPr>
          <p:nvPr>
            <p:ph type="title"/>
          </p:nvPr>
        </p:nvSpPr>
        <p:spPr>
          <a:xfrm flipH="1">
            <a:off x="1923548" y="370681"/>
            <a:ext cx="9601200" cy="701358"/>
          </a:xfrm>
        </p:spPr>
        <p:txBody>
          <a:bodyPr/>
          <a:lstStyle/>
          <a:p>
            <a:r>
              <a:rPr lang="ar-SA" dirty="0">
                <a:solidFill>
                  <a:srgbClr val="00B050"/>
                </a:solidFill>
              </a:rPr>
              <a:t>المنتجات الـ "</a:t>
            </a:r>
            <a:r>
              <a:rPr lang="en-US" dirty="0">
                <a:solidFill>
                  <a:srgbClr val="00B050"/>
                </a:solidFill>
              </a:rPr>
              <a:t>Stars" (Top Revenue)</a:t>
            </a:r>
            <a:endParaRPr lang="en-US" dirty="0">
              <a:solidFill>
                <a:srgbClr val="00B050"/>
              </a:solidFill>
              <a:latin typeface="Arial" panose="020B0604020202020204" pitchFamily="34" charset="0"/>
              <a:cs typeface="Arial" panose="020B0604020202020204" pitchFamily="34" charset="0"/>
            </a:endParaRPr>
          </a:p>
        </p:txBody>
      </p:sp>
      <p:pic>
        <p:nvPicPr>
          <p:cNvPr id="8" name="صورة 7">
            <a:extLst>
              <a:ext uri="{FF2B5EF4-FFF2-40B4-BE49-F238E27FC236}">
                <a16:creationId xmlns:a16="http://schemas.microsoft.com/office/drawing/2014/main" id="{B36F0018-CD6D-3E93-85A4-565E56AE50C0}"/>
              </a:ext>
            </a:extLst>
          </p:cNvPr>
          <p:cNvPicPr>
            <a:picLocks noChangeAspect="1"/>
          </p:cNvPicPr>
          <p:nvPr/>
        </p:nvPicPr>
        <p:blipFill>
          <a:blip r:embed="rId2"/>
          <a:stretch>
            <a:fillRect/>
          </a:stretch>
        </p:blipFill>
        <p:spPr>
          <a:xfrm>
            <a:off x="1" y="1072040"/>
            <a:ext cx="6979920" cy="5064600"/>
          </a:xfrm>
          <a:prstGeom prst="rect">
            <a:avLst/>
          </a:prstGeom>
        </p:spPr>
      </p:pic>
      <p:sp>
        <p:nvSpPr>
          <p:cNvPr id="4" name="Rectangle 2">
            <a:extLst>
              <a:ext uri="{FF2B5EF4-FFF2-40B4-BE49-F238E27FC236}">
                <a16:creationId xmlns:a16="http://schemas.microsoft.com/office/drawing/2014/main" id="{BDB2297D-5A9A-599F-34E8-0CEC47E8F5A7}"/>
              </a:ext>
            </a:extLst>
          </p:cNvPr>
          <p:cNvSpPr>
            <a:spLocks noGrp="1" noChangeArrowheads="1"/>
          </p:cNvSpPr>
          <p:nvPr>
            <p:ph sz="half" idx="1"/>
          </p:nvPr>
        </p:nvSpPr>
        <p:spPr bwMode="auto">
          <a:xfrm>
            <a:off x="7172325" y="2301588"/>
            <a:ext cx="444055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ثلاجة 21 قدم وتلفزيون 55 بوصة هما "منجم الذهب". هما المسؤولان عن نصيب الأسد من الإيرادات</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تخصيص مساحة عرض أكبر لهذه المنتجات في واجهات الفروع لأنها "تبيع نفسها</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97050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232D-01D1-07E5-36E3-0C1DFDCAEB6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71B6B444-AE96-DBFC-B5C0-29EC76369156}"/>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تحليل الكثافة الشرائية (</a:t>
            </a:r>
            <a:r>
              <a:rPr lang="en-US" dirty="0">
                <a:solidFill>
                  <a:srgbClr val="00B050"/>
                </a:solidFill>
                <a:latin typeface="Arial" panose="020B0604020202020204" pitchFamily="34" charset="0"/>
                <a:cs typeface="Arial" panose="020B0604020202020204" pitchFamily="34" charset="0"/>
              </a:rPr>
              <a:t>(High Volume Items</a:t>
            </a:r>
          </a:p>
        </p:txBody>
      </p:sp>
      <p:sp>
        <p:nvSpPr>
          <p:cNvPr id="14" name="Rectangle 4">
            <a:extLst>
              <a:ext uri="{FF2B5EF4-FFF2-40B4-BE49-F238E27FC236}">
                <a16:creationId xmlns:a16="http://schemas.microsoft.com/office/drawing/2014/main" id="{BBB4933D-D8DB-3AD9-0ACE-CB54D7F78517}"/>
              </a:ext>
            </a:extLst>
          </p:cNvPr>
          <p:cNvSpPr>
            <a:spLocks noGrp="1" noChangeArrowheads="1"/>
          </p:cNvSpPr>
          <p:nvPr>
            <p:ph sz="half" idx="1"/>
          </p:nvPr>
        </p:nvSpPr>
        <p:spPr bwMode="auto">
          <a:xfrm>
            <a:off x="7172325" y="2116922"/>
            <a:ext cx="435242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الأجهزة الصغيرة (خلاطات، مكاوي) تُباع بكميات ضخمة. هي المسؤولة عن "حركة القدم</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Footfall</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داخل المحل</a:t>
            </a:r>
            <a:r>
              <a:rPr kumimoji="0" lang="ar-SA" altLang="ar-SA" sz="2400" b="0" i="0" u="none" strike="noStrike" cap="none" normalizeH="0" baseline="0" dirty="0">
                <a:ln>
                  <a:noFill/>
                </a:ln>
                <a:solidFill>
                  <a:schemeClr val="tx1"/>
                </a:solidFill>
                <a:effectLst/>
                <a:latin typeface="Arial" panose="020B0604020202020204" pitchFamily="34" charset="0"/>
              </a:rPr>
              <a:t>.</a:t>
            </a:r>
          </a:p>
          <a:p>
            <a:pPr algn="just" eaLnBrk="0" fontAlgn="base" hangingPunct="0">
              <a:lnSpc>
                <a:spcPct val="100000"/>
              </a:lnSpc>
              <a:spcBef>
                <a:spcPct val="0"/>
              </a:spcBef>
              <a:spcAft>
                <a:spcPct val="0"/>
              </a:spcAft>
              <a:buClrTx/>
              <a:buSzTx/>
              <a:buFont typeface="Arial" panose="020B0604020202020204" pitchFamily="34" charset="0"/>
              <a:buChar char="•"/>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استخدام هذه المنتجات كـ</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Lead</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Magnets</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(جذب للعملاء) من خلال خصومات قوية لجلب الزبون للمحل، ثم إقناعه بمنتجات أغلى</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16" name="صورة 15">
            <a:extLst>
              <a:ext uri="{FF2B5EF4-FFF2-40B4-BE49-F238E27FC236}">
                <a16:creationId xmlns:a16="http://schemas.microsoft.com/office/drawing/2014/main" id="{CDBA9BE1-8657-201E-F208-4453EBA9E704}"/>
              </a:ext>
            </a:extLst>
          </p:cNvPr>
          <p:cNvPicPr>
            <a:picLocks noChangeAspect="1"/>
          </p:cNvPicPr>
          <p:nvPr/>
        </p:nvPicPr>
        <p:blipFill>
          <a:blip r:embed="rId2"/>
          <a:stretch>
            <a:fillRect/>
          </a:stretch>
        </p:blipFill>
        <p:spPr>
          <a:xfrm>
            <a:off x="94843" y="1605086"/>
            <a:ext cx="7077482" cy="3928156"/>
          </a:xfrm>
          <a:prstGeom prst="rect">
            <a:avLst/>
          </a:prstGeom>
        </p:spPr>
      </p:pic>
    </p:spTree>
    <p:extLst>
      <p:ext uri="{BB962C8B-B14F-4D97-AF65-F5344CB8AC3E}">
        <p14:creationId xmlns:p14="http://schemas.microsoft.com/office/powerpoint/2010/main" val="20606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368C0-D7EB-3F18-5315-7B64C0E7F65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42688FEE-69EA-7D25-D8F6-8A6B486451C3}"/>
              </a:ext>
            </a:extLst>
          </p:cNvPr>
          <p:cNvSpPr>
            <a:spLocks noGrp="1"/>
          </p:cNvSpPr>
          <p:nvPr>
            <p:ph type="title"/>
          </p:nvPr>
        </p:nvSpPr>
        <p:spPr>
          <a:xfrm flipH="1">
            <a:off x="1923548" y="370681"/>
            <a:ext cx="9601200" cy="701358"/>
          </a:xfrm>
        </p:spPr>
        <p:txBody>
          <a:bodyPr>
            <a:normAutofit/>
          </a:bodyPr>
          <a:lstStyle/>
          <a:p>
            <a:r>
              <a:rPr lang="ar-SA" dirty="0">
                <a:solidFill>
                  <a:srgbClr val="00B050"/>
                </a:solidFill>
                <a:latin typeface="Arial" panose="020B0604020202020204" pitchFamily="34" charset="0"/>
                <a:cs typeface="Arial" panose="020B0604020202020204" pitchFamily="34" charset="0"/>
              </a:rPr>
              <a:t>سيكولوجية الخصومات (</a:t>
            </a:r>
            <a:r>
              <a:rPr lang="en-US" dirty="0">
                <a:solidFill>
                  <a:srgbClr val="00B050"/>
                </a:solidFill>
                <a:latin typeface="Arial" panose="020B0604020202020204" pitchFamily="34" charset="0"/>
                <a:cs typeface="Arial" panose="020B0604020202020204" pitchFamily="34" charset="0"/>
              </a:rPr>
              <a:t>Discount Impact Analysis</a:t>
            </a:r>
            <a:r>
              <a:rPr lang="ar-SA" dirty="0">
                <a:solidFill>
                  <a:srgbClr val="00B050"/>
                </a:solidFill>
                <a:latin typeface="Arial" panose="020B0604020202020204" pitchFamily="34" charset="0"/>
                <a:cs typeface="Arial" panose="020B0604020202020204" pitchFamily="34" charset="0"/>
              </a:rPr>
              <a:t>)</a:t>
            </a:r>
            <a:endParaRPr lang="en-US" dirty="0">
              <a:solidFill>
                <a:srgbClr val="00B050"/>
              </a:solidFill>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58CDEC29-3A7A-5485-4AD1-8651F13A99E8}"/>
              </a:ext>
            </a:extLst>
          </p:cNvPr>
          <p:cNvSpPr>
            <a:spLocks noGrp="1" noChangeArrowheads="1"/>
          </p:cNvSpPr>
          <p:nvPr>
            <p:ph sz="half" idx="1"/>
          </p:nvPr>
        </p:nvSpPr>
        <p:spPr bwMode="auto">
          <a:xfrm>
            <a:off x="7172325" y="2116922"/>
            <a:ext cx="44277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البيانات صادمة! 55% من المبيعات تمت بدون أي خصم. هذا يعني أن العميل يشتري لأنه "محتاج" ولأنه "يثق بك"، وليس فقط بسبب السعر الرخيص</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التوقف عن عمل خصومات عامة، واستبدالها بـ "هدايا عينية" للحفاظ على قيمة </a:t>
            </a:r>
            <a:r>
              <a:rPr kumimoji="0" lang="ar-SA" altLang="ar-SA" sz="2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البراند</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6" name="صورة 5">
            <a:extLst>
              <a:ext uri="{FF2B5EF4-FFF2-40B4-BE49-F238E27FC236}">
                <a16:creationId xmlns:a16="http://schemas.microsoft.com/office/drawing/2014/main" id="{A359E535-AAC8-58A9-FDBD-22A00E318D2E}"/>
              </a:ext>
            </a:extLst>
          </p:cNvPr>
          <p:cNvPicPr>
            <a:picLocks noChangeAspect="1"/>
          </p:cNvPicPr>
          <p:nvPr/>
        </p:nvPicPr>
        <p:blipFill>
          <a:blip r:embed="rId2"/>
          <a:stretch>
            <a:fillRect/>
          </a:stretch>
        </p:blipFill>
        <p:spPr>
          <a:xfrm>
            <a:off x="343762" y="1592420"/>
            <a:ext cx="6380386" cy="4178459"/>
          </a:xfrm>
          <a:prstGeom prst="rect">
            <a:avLst/>
          </a:prstGeom>
        </p:spPr>
      </p:pic>
    </p:spTree>
    <p:extLst>
      <p:ext uri="{BB962C8B-B14F-4D97-AF65-F5344CB8AC3E}">
        <p14:creationId xmlns:p14="http://schemas.microsoft.com/office/powerpoint/2010/main" val="4140343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23023-878B-DE93-243F-AAF5E2F499B2}"/>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7B5C637B-6DD3-08A2-A1BB-036C2B6A219F}"/>
              </a:ext>
            </a:extLst>
          </p:cNvPr>
          <p:cNvSpPr>
            <a:spLocks noGrp="1"/>
          </p:cNvSpPr>
          <p:nvPr>
            <p:ph type="title"/>
          </p:nvPr>
        </p:nvSpPr>
        <p:spPr>
          <a:xfrm flipH="1">
            <a:off x="1923548" y="370681"/>
            <a:ext cx="9601200" cy="701358"/>
          </a:xfrm>
        </p:spPr>
        <p:txBody>
          <a:bodyPr>
            <a:normAutofit/>
          </a:bodyPr>
          <a:lstStyle/>
          <a:p>
            <a:r>
              <a:rPr lang="ar-SA" dirty="0">
                <a:solidFill>
                  <a:srgbClr val="00B050"/>
                </a:solidFill>
                <a:latin typeface="Arial" panose="020B0604020202020204" pitchFamily="34" charset="0"/>
                <a:cs typeface="Arial" panose="020B0604020202020204" pitchFamily="34" charset="0"/>
              </a:rPr>
              <a:t>تحليل الارتباط (</a:t>
            </a:r>
            <a:r>
              <a:rPr lang="en-US" dirty="0">
                <a:solidFill>
                  <a:srgbClr val="00B050"/>
                </a:solidFill>
                <a:latin typeface="Arial" panose="020B0604020202020204" pitchFamily="34" charset="0"/>
                <a:cs typeface="Arial" panose="020B0604020202020204" pitchFamily="34" charset="0"/>
              </a:rPr>
              <a:t>Basket Analysis</a:t>
            </a:r>
            <a:r>
              <a:rPr lang="ar-SA" dirty="0">
                <a:solidFill>
                  <a:srgbClr val="00B050"/>
                </a:solidFill>
                <a:latin typeface="Arial" panose="020B0604020202020204" pitchFamily="34" charset="0"/>
                <a:cs typeface="Arial" panose="020B0604020202020204" pitchFamily="34" charset="0"/>
              </a:rPr>
              <a:t>)</a:t>
            </a:r>
            <a:endParaRPr lang="en-US" dirty="0">
              <a:solidFill>
                <a:srgbClr val="00B050"/>
              </a:solidFill>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7643CE6F-8E5A-BB18-683F-D9DE26E8F517}"/>
              </a:ext>
            </a:extLst>
          </p:cNvPr>
          <p:cNvSpPr>
            <a:spLocks noGrp="1" noChangeArrowheads="1"/>
          </p:cNvSpPr>
          <p:nvPr>
            <p:ph sz="half" idx="1"/>
          </p:nvPr>
        </p:nvSpPr>
        <p:spPr bwMode="auto">
          <a:xfrm>
            <a:off x="7172324" y="2486254"/>
            <a:ext cx="443039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من خلال الصور، يظهر أن هناك منتجات تُطلب معاً (مثل الشاشة مع حامل الحائط)</a:t>
            </a:r>
            <a:r>
              <a:rPr kumimoji="0" lang="ar-SA" altLang="ar-SA" sz="24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buClrTx/>
              <a:buSzTx/>
              <a:buFont typeface="Arial" panose="020B0604020202020204" pitchFamily="34" charset="0"/>
              <a:buChar char="•"/>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إعادة تصميم "طريقة العرض" في الموقع الإلكتروني لتقترح هذه المكملات تلقائياً</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Upselling</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10" name="صورة 9">
            <a:extLst>
              <a:ext uri="{FF2B5EF4-FFF2-40B4-BE49-F238E27FC236}">
                <a16:creationId xmlns:a16="http://schemas.microsoft.com/office/drawing/2014/main" id="{7F1DD783-2275-67F8-D112-AC681DCA5BE9}"/>
              </a:ext>
            </a:extLst>
          </p:cNvPr>
          <p:cNvPicPr>
            <a:picLocks noChangeAspect="1"/>
          </p:cNvPicPr>
          <p:nvPr/>
        </p:nvPicPr>
        <p:blipFill>
          <a:blip r:embed="rId2"/>
          <a:stretch>
            <a:fillRect/>
          </a:stretch>
        </p:blipFill>
        <p:spPr>
          <a:xfrm>
            <a:off x="1351281" y="1227889"/>
            <a:ext cx="4614098" cy="4905005"/>
          </a:xfrm>
          <a:prstGeom prst="rect">
            <a:avLst/>
          </a:prstGeom>
        </p:spPr>
      </p:pic>
    </p:spTree>
    <p:extLst>
      <p:ext uri="{BB962C8B-B14F-4D97-AF65-F5344CB8AC3E}">
        <p14:creationId xmlns:p14="http://schemas.microsoft.com/office/powerpoint/2010/main" val="3446803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2261B-89F7-9A5F-1098-BB1A1369FD61}"/>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5C3AA9-29FA-1923-31C6-42F50994D9E2}"/>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لوحة تحليل المنتجات (</a:t>
            </a:r>
            <a:r>
              <a:rPr lang="en-US" dirty="0">
                <a:solidFill>
                  <a:srgbClr val="00B050"/>
                </a:solidFill>
                <a:latin typeface="Arial" panose="020B0604020202020204" pitchFamily="34" charset="0"/>
                <a:cs typeface="Arial" panose="020B0604020202020204" pitchFamily="34" charset="0"/>
              </a:rPr>
              <a:t>Products</a:t>
            </a:r>
            <a:r>
              <a:rPr lang="ar-SA" dirty="0">
                <a:solidFill>
                  <a:srgbClr val="00B050"/>
                </a:solidFill>
                <a:latin typeface="Arial" panose="020B0604020202020204" pitchFamily="34" charset="0"/>
                <a:cs typeface="Arial" panose="020B0604020202020204" pitchFamily="34" charset="0"/>
              </a:rPr>
              <a:t>)</a:t>
            </a:r>
          </a:p>
        </p:txBody>
      </p:sp>
      <p:pic>
        <p:nvPicPr>
          <p:cNvPr id="4" name="صورة 3">
            <a:extLst>
              <a:ext uri="{FF2B5EF4-FFF2-40B4-BE49-F238E27FC236}">
                <a16:creationId xmlns:a16="http://schemas.microsoft.com/office/drawing/2014/main" id="{E05C74E6-B499-2290-89B5-E5A2E98F8349}"/>
              </a:ext>
            </a:extLst>
          </p:cNvPr>
          <p:cNvPicPr>
            <a:picLocks noChangeAspect="1"/>
          </p:cNvPicPr>
          <p:nvPr/>
        </p:nvPicPr>
        <p:blipFill>
          <a:blip r:embed="rId2"/>
          <a:stretch>
            <a:fillRect/>
          </a:stretch>
        </p:blipFill>
        <p:spPr>
          <a:xfrm>
            <a:off x="843280" y="1072039"/>
            <a:ext cx="10566400" cy="5054442"/>
          </a:xfrm>
          <a:prstGeom prst="rect">
            <a:avLst/>
          </a:prstGeom>
        </p:spPr>
      </p:pic>
    </p:spTree>
    <p:extLst>
      <p:ext uri="{BB962C8B-B14F-4D97-AF65-F5344CB8AC3E}">
        <p14:creationId xmlns:p14="http://schemas.microsoft.com/office/powerpoint/2010/main" val="131773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50"/>
            </a:gs>
            <a:gs pos="97000">
              <a:srgbClr val="00B050"/>
            </a:gs>
          </a:gsLst>
          <a:path path="circle">
            <a:fillToRect l="50000" t="50000" r="50000" b="50000"/>
          </a:path>
          <a:tileRect/>
        </a:gradFill>
        <a:effectLst/>
      </p:bgPr>
    </p:bg>
    <p:spTree>
      <p:nvGrpSpPr>
        <p:cNvPr id="1" name="">
          <a:extLst>
            <a:ext uri="{FF2B5EF4-FFF2-40B4-BE49-F238E27FC236}">
              <a16:creationId xmlns:a16="http://schemas.microsoft.com/office/drawing/2014/main" id="{79EDFADA-7929-75C3-A873-C943A872940A}"/>
            </a:ext>
          </a:extLst>
        </p:cNvPr>
        <p:cNvGrpSpPr/>
        <p:nvPr/>
      </p:nvGrpSpPr>
      <p:grpSpPr>
        <a:xfrm>
          <a:off x="0" y="0"/>
          <a:ext cx="0" cy="0"/>
          <a:chOff x="0" y="0"/>
          <a:chExt cx="0" cy="0"/>
        </a:xfrm>
      </p:grpSpPr>
      <p:sp>
        <p:nvSpPr>
          <p:cNvPr id="4" name="عنوان 3">
            <a:extLst>
              <a:ext uri="{FF2B5EF4-FFF2-40B4-BE49-F238E27FC236}">
                <a16:creationId xmlns:a16="http://schemas.microsoft.com/office/drawing/2014/main" id="{9C3EB285-8372-452F-FA57-871E79194210}"/>
              </a:ext>
            </a:extLst>
          </p:cNvPr>
          <p:cNvSpPr>
            <a:spLocks noGrp="1"/>
          </p:cNvSpPr>
          <p:nvPr>
            <p:ph type="title"/>
          </p:nvPr>
        </p:nvSpPr>
        <p:spPr/>
        <p:txBody>
          <a:bodyPr/>
          <a:lstStyle/>
          <a:p>
            <a:r>
              <a:rPr lang="ar-SA" dirty="0">
                <a:latin typeface="Almarai" pitchFamily="2" charset="-78"/>
                <a:cs typeface="Almarai" pitchFamily="2" charset="-78"/>
              </a:rPr>
              <a:t>الجزء الثالث : تحليل العملاء والمحركات </a:t>
            </a:r>
          </a:p>
        </p:txBody>
      </p:sp>
    </p:spTree>
    <p:extLst>
      <p:ext uri="{BB962C8B-B14F-4D97-AF65-F5344CB8AC3E}">
        <p14:creationId xmlns:p14="http://schemas.microsoft.com/office/powerpoint/2010/main" val="3924092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D4381-9753-21A3-332D-B3EEF0AB7C4F}"/>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1A66957A-F194-0A63-DDFE-025EBE0800CC}"/>
              </a:ext>
            </a:extLst>
          </p:cNvPr>
          <p:cNvSpPr>
            <a:spLocks noGrp="1"/>
          </p:cNvSpPr>
          <p:nvPr>
            <p:ph type="title"/>
          </p:nvPr>
        </p:nvSpPr>
        <p:spPr>
          <a:xfrm flipH="1">
            <a:off x="1923548" y="370681"/>
            <a:ext cx="9601200" cy="701358"/>
          </a:xfrm>
        </p:spPr>
        <p:txBody>
          <a:bodyPr>
            <a:normAutofit/>
          </a:bodyPr>
          <a:lstStyle/>
          <a:p>
            <a:r>
              <a:rPr lang="ar-SA" dirty="0">
                <a:solidFill>
                  <a:srgbClr val="00B050"/>
                </a:solidFill>
                <a:latin typeface="Arial" panose="020B0604020202020204" pitchFamily="34" charset="0"/>
                <a:cs typeface="Arial" panose="020B0604020202020204" pitchFamily="34" charset="0"/>
              </a:rPr>
              <a:t>محركات القرار (</a:t>
            </a:r>
            <a:r>
              <a:rPr lang="en-US" dirty="0">
                <a:solidFill>
                  <a:srgbClr val="00B050"/>
                </a:solidFill>
                <a:latin typeface="Arial" panose="020B0604020202020204" pitchFamily="34" charset="0"/>
                <a:cs typeface="Arial" panose="020B0604020202020204" pitchFamily="34" charset="0"/>
              </a:rPr>
              <a:t>What Drives Sales?</a:t>
            </a:r>
            <a:r>
              <a:rPr lang="ar-SA" dirty="0">
                <a:solidFill>
                  <a:srgbClr val="00B050"/>
                </a:solidFill>
                <a:latin typeface="Arial" panose="020B0604020202020204" pitchFamily="34" charset="0"/>
                <a:cs typeface="Arial" panose="020B0604020202020204" pitchFamily="34" charset="0"/>
              </a:rPr>
              <a:t>)</a:t>
            </a:r>
            <a:endParaRPr lang="en-US" dirty="0">
              <a:solidFill>
                <a:srgbClr val="00B050"/>
              </a:solidFill>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3FBE4A42-BF6A-AADD-EE79-219A473611A1}"/>
              </a:ext>
            </a:extLst>
          </p:cNvPr>
          <p:cNvSpPr>
            <a:spLocks noGrp="1" noChangeArrowheads="1"/>
          </p:cNvSpPr>
          <p:nvPr>
            <p:ph sz="half" idx="1"/>
          </p:nvPr>
        </p:nvSpPr>
        <p:spPr bwMode="auto">
          <a:xfrm>
            <a:off x="7094035" y="2301588"/>
            <a:ext cx="443071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الذكاء الاصطناعي يقول أن "سعر الوحدة" يؤثر بنسبة 74% في قرار العميل. نحن نبيع لعملاء حساسين جداً للسعر</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قبل أي رفع للأسعار، يجب عمل "دراسة منافسين" دقيقة لأن خسارة العملاء ستكون سريعة</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7" name="صورة 6">
            <a:extLst>
              <a:ext uri="{FF2B5EF4-FFF2-40B4-BE49-F238E27FC236}">
                <a16:creationId xmlns:a16="http://schemas.microsoft.com/office/drawing/2014/main" id="{369AE248-5FAB-7498-3314-4A592ADA7DEF}"/>
              </a:ext>
            </a:extLst>
          </p:cNvPr>
          <p:cNvPicPr>
            <a:picLocks noChangeAspect="1"/>
          </p:cNvPicPr>
          <p:nvPr/>
        </p:nvPicPr>
        <p:blipFill>
          <a:blip r:embed="rId2"/>
          <a:stretch>
            <a:fillRect/>
          </a:stretch>
        </p:blipFill>
        <p:spPr>
          <a:xfrm>
            <a:off x="414669" y="1146467"/>
            <a:ext cx="6230679" cy="4850296"/>
          </a:xfrm>
          <a:prstGeom prst="rect">
            <a:avLst/>
          </a:prstGeom>
        </p:spPr>
      </p:pic>
    </p:spTree>
    <p:extLst>
      <p:ext uri="{BB962C8B-B14F-4D97-AF65-F5344CB8AC3E}">
        <p14:creationId xmlns:p14="http://schemas.microsoft.com/office/powerpoint/2010/main" val="17980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6829C-8A1E-9E70-02F8-1AAE0FB658E3}"/>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31E4B3C5-084D-2D2F-0274-B60726072A72}"/>
              </a:ext>
            </a:extLst>
          </p:cNvPr>
          <p:cNvSpPr>
            <a:spLocks noGrp="1"/>
          </p:cNvSpPr>
          <p:nvPr>
            <p:ph type="title"/>
          </p:nvPr>
        </p:nvSpPr>
        <p:spPr>
          <a:xfrm flipH="1">
            <a:off x="1923548" y="370681"/>
            <a:ext cx="9601200" cy="701358"/>
          </a:xfrm>
        </p:spPr>
        <p:txBody>
          <a:bodyPr>
            <a:normAutofit/>
          </a:bodyPr>
          <a:lstStyle/>
          <a:p>
            <a:r>
              <a:rPr lang="ar-SA" dirty="0" err="1">
                <a:solidFill>
                  <a:srgbClr val="00B050"/>
                </a:solidFill>
                <a:latin typeface="Arial" panose="020B0604020202020204" pitchFamily="34" charset="0"/>
                <a:cs typeface="Arial" panose="020B0604020202020204" pitchFamily="34" charset="0"/>
              </a:rPr>
              <a:t>ترند</a:t>
            </a:r>
            <a:r>
              <a:rPr lang="ar-SA" dirty="0">
                <a:solidFill>
                  <a:srgbClr val="00B050"/>
                </a:solidFill>
                <a:latin typeface="Arial" panose="020B0604020202020204" pitchFamily="34" charset="0"/>
                <a:cs typeface="Arial" panose="020B0604020202020204" pitchFamily="34" charset="0"/>
              </a:rPr>
              <a:t> النمو الزمني (</a:t>
            </a:r>
            <a:r>
              <a:rPr lang="en-US" dirty="0">
                <a:solidFill>
                  <a:srgbClr val="00B050"/>
                </a:solidFill>
                <a:latin typeface="Arial" panose="020B0604020202020204" pitchFamily="34" charset="0"/>
                <a:cs typeface="Arial" panose="020B0604020202020204" pitchFamily="34" charset="0"/>
              </a:rPr>
              <a:t>Seasonal Trends</a:t>
            </a:r>
            <a:r>
              <a:rPr lang="ar-SA" dirty="0">
                <a:solidFill>
                  <a:srgbClr val="00B050"/>
                </a:solidFill>
                <a:latin typeface="Arial" panose="020B0604020202020204" pitchFamily="34" charset="0"/>
                <a:cs typeface="Arial" panose="020B0604020202020204" pitchFamily="34" charset="0"/>
              </a:rPr>
              <a:t>)</a:t>
            </a:r>
            <a:endParaRPr lang="en-US" dirty="0">
              <a:solidFill>
                <a:srgbClr val="00B050"/>
              </a:solidFill>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F7BAD050-106C-EF15-71FA-6578B5CD5BDF}"/>
              </a:ext>
            </a:extLst>
          </p:cNvPr>
          <p:cNvSpPr>
            <a:spLocks noGrp="1" noChangeArrowheads="1"/>
          </p:cNvSpPr>
          <p:nvPr>
            <p:ph sz="half" idx="1"/>
          </p:nvPr>
        </p:nvSpPr>
        <p:spPr bwMode="auto">
          <a:xfrm>
            <a:off x="7953153" y="2116922"/>
            <a:ext cx="364696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هناك قمم مبيعات في فبراير ومارس (ربما بسبب عروض عيد الأم أو مواسم معينة)</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lang="ar-SA" altLang="ar-SA" sz="2400" dirty="0">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بدء الحملات الإعلانية قبل هذه القمم بـ 30 يوماً لضمان "الاستحواذ الذهني" لدى العميل</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8" name="صورة 7">
            <a:extLst>
              <a:ext uri="{FF2B5EF4-FFF2-40B4-BE49-F238E27FC236}">
                <a16:creationId xmlns:a16="http://schemas.microsoft.com/office/drawing/2014/main" id="{22434407-6AE0-E541-9554-66166D1B5C97}"/>
              </a:ext>
            </a:extLst>
          </p:cNvPr>
          <p:cNvPicPr>
            <a:picLocks noChangeAspect="1"/>
          </p:cNvPicPr>
          <p:nvPr/>
        </p:nvPicPr>
        <p:blipFill>
          <a:blip r:embed="rId2"/>
          <a:stretch>
            <a:fillRect/>
          </a:stretch>
        </p:blipFill>
        <p:spPr>
          <a:xfrm>
            <a:off x="0" y="1072039"/>
            <a:ext cx="7953153" cy="4633362"/>
          </a:xfrm>
          <a:prstGeom prst="rect">
            <a:avLst/>
          </a:prstGeom>
        </p:spPr>
      </p:pic>
    </p:spTree>
    <p:extLst>
      <p:ext uri="{BB962C8B-B14F-4D97-AF65-F5344CB8AC3E}">
        <p14:creationId xmlns:p14="http://schemas.microsoft.com/office/powerpoint/2010/main" val="281651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A0C24-E7DD-FB26-77C3-FAE69CC2E0A6}"/>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0325CDD1-EB53-A313-D376-4C3752BEE5C7}"/>
              </a:ext>
            </a:extLst>
          </p:cNvPr>
          <p:cNvSpPr>
            <a:spLocks noGrp="1"/>
          </p:cNvSpPr>
          <p:nvPr>
            <p:ph type="title"/>
          </p:nvPr>
        </p:nvSpPr>
        <p:spPr>
          <a:xfrm flipH="1">
            <a:off x="1923548" y="370681"/>
            <a:ext cx="9601200" cy="701358"/>
          </a:xfrm>
        </p:spPr>
        <p:txBody>
          <a:bodyPr>
            <a:normAutofit/>
          </a:bodyPr>
          <a:lstStyle/>
          <a:p>
            <a:pPr algn="just"/>
            <a:r>
              <a:rPr lang="ar-SA" dirty="0">
                <a:solidFill>
                  <a:srgbClr val="00B050"/>
                </a:solidFill>
                <a:latin typeface="Arial" panose="020B0604020202020204" pitchFamily="34" charset="0"/>
                <a:cs typeface="Arial" panose="020B0604020202020204" pitchFamily="34" charset="0"/>
              </a:rPr>
              <a:t>تحليل الولاء (</a:t>
            </a:r>
            <a:r>
              <a:rPr lang="en-US" dirty="0">
                <a:solidFill>
                  <a:srgbClr val="00B050"/>
                </a:solidFill>
                <a:latin typeface="Arial" panose="020B0604020202020204" pitchFamily="34" charset="0"/>
                <a:cs typeface="Arial" panose="020B0604020202020204" pitchFamily="34" charset="0"/>
              </a:rPr>
              <a:t>Customer Retention</a:t>
            </a:r>
            <a:r>
              <a:rPr lang="ar-SA" dirty="0">
                <a:solidFill>
                  <a:srgbClr val="00B050"/>
                </a:solidFill>
                <a:latin typeface="Arial" panose="020B0604020202020204" pitchFamily="34" charset="0"/>
                <a:cs typeface="Arial" panose="020B0604020202020204" pitchFamily="34" charset="0"/>
              </a:rPr>
              <a:t>)</a:t>
            </a:r>
            <a:endParaRPr lang="en-US" dirty="0">
              <a:solidFill>
                <a:srgbClr val="00B050"/>
              </a:solidFill>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CAFF4D0F-F197-33E9-F408-D52941EB30A8}"/>
              </a:ext>
            </a:extLst>
          </p:cNvPr>
          <p:cNvSpPr>
            <a:spLocks noGrp="1" noChangeArrowheads="1"/>
          </p:cNvSpPr>
          <p:nvPr>
            <p:ph sz="half" idx="1"/>
          </p:nvPr>
        </p:nvSpPr>
        <p:spPr bwMode="auto">
          <a:xfrm>
            <a:off x="1923549" y="1530220"/>
            <a:ext cx="9601199" cy="225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Clr>
                <a:schemeClr val="tx2"/>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الشرح:</a:t>
            </a:r>
            <a:r>
              <a:rPr lang="ar-SA" sz="2400" dirty="0">
                <a:latin typeface="Arial" panose="020B0604020202020204" pitchFamily="34" charset="0"/>
                <a:cs typeface="Arial" panose="020B0604020202020204" pitchFamily="34" charset="0"/>
              </a:rPr>
              <a:t> العميل الذي اشترى جهازاً كبيراً من المرجح أن يعود لشراء أجهزة صغيرة إذا كانت الخدمة جيدة.</a:t>
            </a:r>
          </a:p>
          <a:p>
            <a:pPr algn="just">
              <a:buClr>
                <a:schemeClr val="tx2"/>
              </a:buClr>
              <a:buFont typeface="Arial" panose="020B0604020202020204" pitchFamily="34" charset="0"/>
              <a:buChar char="•"/>
            </a:pPr>
            <a:endParaRPr lang="ar-SA" sz="2400" dirty="0">
              <a:latin typeface="Arial" panose="020B0604020202020204" pitchFamily="34" charset="0"/>
              <a:cs typeface="Arial" panose="020B0604020202020204" pitchFamily="34" charset="0"/>
            </a:endParaRPr>
          </a:p>
          <a:p>
            <a:pPr algn="just">
              <a:buClr>
                <a:schemeClr val="tx2"/>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الاقتراح:</a:t>
            </a:r>
            <a:r>
              <a:rPr lang="ar-SA" sz="2400" dirty="0">
                <a:latin typeface="Arial" panose="020B0604020202020204" pitchFamily="34" charset="0"/>
                <a:cs typeface="Arial" panose="020B0604020202020204" pitchFamily="34" charset="0"/>
              </a:rPr>
              <a:t> إرسال "كوبون خصم" بعد 6 أشهر من الشراء الأول لتحفيز العودة.</a:t>
            </a:r>
          </a:p>
          <a:p>
            <a:pPr marR="0" lvl="0" algn="just" defTabSz="914400" eaLnBrk="0" fontAlgn="base" latinLnBrk="0" hangingPunct="0">
              <a:lnSpc>
                <a:spcPct val="100000"/>
              </a:lnSpc>
              <a:spcBef>
                <a:spcPct val="0"/>
              </a:spcBef>
              <a:spcAft>
                <a:spcPct val="0"/>
              </a:spcAft>
              <a:buClr>
                <a:schemeClr val="tx2"/>
              </a:buClr>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4243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F1503-F40D-7EAF-EE4A-6DA86194437A}"/>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8BB85BFE-8606-FA34-0BAA-8C2F87CCB8F0}"/>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لوحة تحليل العملاء (</a:t>
            </a:r>
            <a:r>
              <a:rPr lang="en-US" dirty="0">
                <a:solidFill>
                  <a:srgbClr val="00B050"/>
                </a:solidFill>
                <a:latin typeface="Arial" panose="020B0604020202020204" pitchFamily="34" charset="0"/>
                <a:cs typeface="Arial" panose="020B0604020202020204" pitchFamily="34" charset="0"/>
              </a:rPr>
              <a:t>Customers</a:t>
            </a:r>
            <a:r>
              <a:rPr lang="ar-SA" dirty="0">
                <a:solidFill>
                  <a:srgbClr val="00B050"/>
                </a:solidFill>
                <a:latin typeface="Arial" panose="020B0604020202020204" pitchFamily="34" charset="0"/>
                <a:cs typeface="Arial" panose="020B0604020202020204" pitchFamily="34" charset="0"/>
              </a:rPr>
              <a:t>)</a:t>
            </a:r>
          </a:p>
        </p:txBody>
      </p:sp>
      <p:pic>
        <p:nvPicPr>
          <p:cNvPr id="5" name="صورة 4">
            <a:extLst>
              <a:ext uri="{FF2B5EF4-FFF2-40B4-BE49-F238E27FC236}">
                <a16:creationId xmlns:a16="http://schemas.microsoft.com/office/drawing/2014/main" id="{75ABD7F9-EFA9-D5F4-452B-B2059A4EAD2F}"/>
              </a:ext>
            </a:extLst>
          </p:cNvPr>
          <p:cNvPicPr>
            <a:picLocks noChangeAspect="1"/>
          </p:cNvPicPr>
          <p:nvPr/>
        </p:nvPicPr>
        <p:blipFill>
          <a:blip r:embed="rId2"/>
          <a:stretch>
            <a:fillRect/>
          </a:stretch>
        </p:blipFill>
        <p:spPr>
          <a:xfrm>
            <a:off x="1249260" y="1072039"/>
            <a:ext cx="10008020" cy="5088967"/>
          </a:xfrm>
          <a:prstGeom prst="rect">
            <a:avLst/>
          </a:prstGeom>
        </p:spPr>
      </p:pic>
    </p:spTree>
    <p:extLst>
      <p:ext uri="{BB962C8B-B14F-4D97-AF65-F5344CB8AC3E}">
        <p14:creationId xmlns:p14="http://schemas.microsoft.com/office/powerpoint/2010/main" val="513644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50"/>
            </a:gs>
            <a:gs pos="97000">
              <a:srgbClr val="00B050"/>
            </a:gs>
          </a:gsLst>
          <a:path path="circle">
            <a:fillToRect l="50000" t="50000" r="50000" b="50000"/>
          </a:path>
          <a:tileRect/>
        </a:gradFill>
        <a:effectLst/>
      </p:bgPr>
    </p:bg>
    <p:spTree>
      <p:nvGrpSpPr>
        <p:cNvPr id="1" name="">
          <a:extLst>
            <a:ext uri="{FF2B5EF4-FFF2-40B4-BE49-F238E27FC236}">
              <a16:creationId xmlns:a16="http://schemas.microsoft.com/office/drawing/2014/main" id="{84310137-0934-E742-7A4F-BC88A0A3B85A}"/>
            </a:ext>
          </a:extLst>
        </p:cNvPr>
        <p:cNvGrpSpPr/>
        <p:nvPr/>
      </p:nvGrpSpPr>
      <p:grpSpPr>
        <a:xfrm>
          <a:off x="0" y="0"/>
          <a:ext cx="0" cy="0"/>
          <a:chOff x="0" y="0"/>
          <a:chExt cx="0" cy="0"/>
        </a:xfrm>
      </p:grpSpPr>
      <p:sp>
        <p:nvSpPr>
          <p:cNvPr id="4" name="عنوان 3">
            <a:extLst>
              <a:ext uri="{FF2B5EF4-FFF2-40B4-BE49-F238E27FC236}">
                <a16:creationId xmlns:a16="http://schemas.microsoft.com/office/drawing/2014/main" id="{C9B38461-E7C4-7E7A-60CD-FA989BD77F4F}"/>
              </a:ext>
            </a:extLst>
          </p:cNvPr>
          <p:cNvSpPr>
            <a:spLocks noGrp="1"/>
          </p:cNvSpPr>
          <p:nvPr>
            <p:ph type="title"/>
          </p:nvPr>
        </p:nvSpPr>
        <p:spPr/>
        <p:txBody>
          <a:bodyPr/>
          <a:lstStyle/>
          <a:p>
            <a:r>
              <a:rPr lang="ar-SA" dirty="0">
                <a:latin typeface="Almarai" pitchFamily="2" charset="-78"/>
                <a:cs typeface="Almarai" pitchFamily="2" charset="-78"/>
              </a:rPr>
              <a:t>الجزء الرابع : تحليل الموظفين - </a:t>
            </a:r>
            <a:r>
              <a:rPr lang="en-US" dirty="0">
                <a:latin typeface="Almarai" pitchFamily="2" charset="-78"/>
                <a:cs typeface="Almarai" pitchFamily="2" charset="-78"/>
              </a:rPr>
              <a:t>Human Capital</a:t>
            </a:r>
            <a:endParaRPr lang="ar-SA" dirty="0">
              <a:latin typeface="Almarai" pitchFamily="2" charset="-78"/>
              <a:cs typeface="Almarai" pitchFamily="2" charset="-78"/>
            </a:endParaRPr>
          </a:p>
        </p:txBody>
      </p:sp>
    </p:spTree>
    <p:extLst>
      <p:ext uri="{BB962C8B-B14F-4D97-AF65-F5344CB8AC3E}">
        <p14:creationId xmlns:p14="http://schemas.microsoft.com/office/powerpoint/2010/main" val="232745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48C75-9D81-ADEC-C490-64453EF4DFA6}"/>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73078BB9-0079-6901-E321-F41525588A93}"/>
              </a:ext>
            </a:extLst>
          </p:cNvPr>
          <p:cNvSpPr>
            <a:spLocks noGrp="1"/>
          </p:cNvSpPr>
          <p:nvPr>
            <p:ph type="title"/>
          </p:nvPr>
        </p:nvSpPr>
        <p:spPr>
          <a:xfrm flipH="1">
            <a:off x="1923548" y="370681"/>
            <a:ext cx="9601200" cy="701358"/>
          </a:xfrm>
        </p:spPr>
        <p:txBody>
          <a:bodyPr>
            <a:normAutofit/>
          </a:bodyPr>
          <a:lstStyle/>
          <a:p>
            <a:pPr algn="just">
              <a:buClr>
                <a:schemeClr val="tx2"/>
              </a:buClr>
            </a:pPr>
            <a:r>
              <a:rPr lang="ar-SA" dirty="0">
                <a:solidFill>
                  <a:srgbClr val="00B050"/>
                </a:solidFill>
                <a:latin typeface="Arial" panose="020B0604020202020204" pitchFamily="34" charset="0"/>
                <a:cs typeface="Arial" panose="020B0604020202020204" pitchFamily="34" charset="0"/>
              </a:rPr>
              <a:t>ترتيب التميز (</a:t>
            </a:r>
            <a:r>
              <a:rPr lang="en-US" dirty="0">
                <a:solidFill>
                  <a:srgbClr val="00B050"/>
                </a:solidFill>
                <a:latin typeface="Arial" panose="020B0604020202020204" pitchFamily="34" charset="0"/>
                <a:cs typeface="Arial" panose="020B0604020202020204" pitchFamily="34" charset="0"/>
              </a:rPr>
              <a:t>Sales Force Ranking</a:t>
            </a:r>
            <a:r>
              <a:rPr lang="ar-SA" dirty="0">
                <a:solidFill>
                  <a:srgbClr val="00B050"/>
                </a:solidFill>
                <a:latin typeface="Arial" panose="020B0604020202020204" pitchFamily="34" charset="0"/>
                <a:cs typeface="Arial" panose="020B0604020202020204" pitchFamily="34" charset="0"/>
              </a:rPr>
              <a:t>)</a:t>
            </a:r>
            <a:endParaRPr lang="ar-SA" altLang="ar-SA" b="0" dirty="0">
              <a:solidFill>
                <a:srgbClr val="00B050"/>
              </a:solidFill>
              <a:latin typeface="Arial" panose="020B0604020202020204" pitchFamily="34" charset="0"/>
              <a:cs typeface="Arial" panose="020B0604020202020204" pitchFamily="34" charset="0"/>
            </a:endParaRPr>
          </a:p>
        </p:txBody>
      </p:sp>
      <p:sp>
        <p:nvSpPr>
          <p:cNvPr id="3" name="Rectangle 1">
            <a:extLst>
              <a:ext uri="{FF2B5EF4-FFF2-40B4-BE49-F238E27FC236}">
                <a16:creationId xmlns:a16="http://schemas.microsoft.com/office/drawing/2014/main" id="{14DC138C-A1E5-8D4D-FCB7-85FAA6448214}"/>
              </a:ext>
            </a:extLst>
          </p:cNvPr>
          <p:cNvSpPr>
            <a:spLocks noGrp="1" noChangeArrowheads="1"/>
          </p:cNvSpPr>
          <p:nvPr>
            <p:ph sz="half" idx="1"/>
          </p:nvPr>
        </p:nvSpPr>
        <p:spPr bwMode="auto">
          <a:xfrm>
            <a:off x="6492240" y="1366869"/>
            <a:ext cx="503250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lang="ar-SA" altLang="ar-SA" sz="2400" dirty="0">
                <a:latin typeface="Arial" panose="020B0604020202020204" pitchFamily="34" charset="0"/>
                <a:cs typeface="Arial" panose="020B0604020202020204" pitchFamily="34" charset="0"/>
              </a:rPr>
              <a:t>يوسف</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و رقية وكريم ومحمد احمد وعلي إبراهيم هم "الخماسي المرعب" في المبيعات، حيث حققوا مبيعات بملايين الجنيهات</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lang="ar-SA" altLang="ar-SA" sz="2400" dirty="0">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إجراء مقابلة معهم لمعرفة "أسرارهم البيعية" وكتابتها في دليل تدريبي للموظفين الجدد</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6" name="صورة 5">
            <a:extLst>
              <a:ext uri="{FF2B5EF4-FFF2-40B4-BE49-F238E27FC236}">
                <a16:creationId xmlns:a16="http://schemas.microsoft.com/office/drawing/2014/main" id="{85085256-9FD3-76D6-6108-36440DA09034}"/>
              </a:ext>
            </a:extLst>
          </p:cNvPr>
          <p:cNvPicPr>
            <a:picLocks noChangeAspect="1"/>
          </p:cNvPicPr>
          <p:nvPr/>
        </p:nvPicPr>
        <p:blipFill>
          <a:blip r:embed="rId2"/>
          <a:stretch>
            <a:fillRect/>
          </a:stretch>
        </p:blipFill>
        <p:spPr>
          <a:xfrm>
            <a:off x="154543" y="1131371"/>
            <a:ext cx="6337697" cy="4595258"/>
          </a:xfrm>
          <a:prstGeom prst="rect">
            <a:avLst/>
          </a:prstGeom>
        </p:spPr>
      </p:pic>
    </p:spTree>
    <p:extLst>
      <p:ext uri="{BB962C8B-B14F-4D97-AF65-F5344CB8AC3E}">
        <p14:creationId xmlns:p14="http://schemas.microsoft.com/office/powerpoint/2010/main" val="2346073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EC790-2272-491B-50F4-CEA53E970F92}"/>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D36F2497-586F-7A30-4E1B-3EA73B282073}"/>
              </a:ext>
            </a:extLst>
          </p:cNvPr>
          <p:cNvSpPr>
            <a:spLocks noGrp="1"/>
          </p:cNvSpPr>
          <p:nvPr>
            <p:ph type="title"/>
          </p:nvPr>
        </p:nvSpPr>
        <p:spPr>
          <a:xfrm flipH="1">
            <a:off x="1923548" y="370681"/>
            <a:ext cx="9601200" cy="701358"/>
          </a:xfrm>
        </p:spPr>
        <p:txBody>
          <a:bodyPr>
            <a:normAutofit/>
          </a:bodyPr>
          <a:lstStyle/>
          <a:p>
            <a:pPr algn="just">
              <a:buClr>
                <a:schemeClr val="tx2"/>
              </a:buClr>
            </a:pPr>
            <a:r>
              <a:rPr lang="ar-SA" dirty="0">
                <a:solidFill>
                  <a:srgbClr val="00B050"/>
                </a:solidFill>
                <a:latin typeface="Arial" panose="020B0604020202020204" pitchFamily="34" charset="0"/>
                <a:cs typeface="Arial" panose="020B0604020202020204" pitchFamily="34" charset="0"/>
              </a:rPr>
              <a:t>كفاءة تحويل الطلبات (</a:t>
            </a:r>
            <a:r>
              <a:rPr lang="en-US" dirty="0">
                <a:solidFill>
                  <a:srgbClr val="00B050"/>
                </a:solidFill>
                <a:latin typeface="Arial" panose="020B0604020202020204" pitchFamily="34" charset="0"/>
                <a:cs typeface="Arial" panose="020B0604020202020204" pitchFamily="34" charset="0"/>
              </a:rPr>
              <a:t>Efficiency Rate</a:t>
            </a:r>
            <a:r>
              <a:rPr lang="ar-SA" dirty="0">
                <a:solidFill>
                  <a:srgbClr val="00B050"/>
                </a:solidFill>
                <a:latin typeface="Arial" panose="020B0604020202020204" pitchFamily="34" charset="0"/>
                <a:cs typeface="Arial" panose="020B0604020202020204" pitchFamily="34" charset="0"/>
              </a:rPr>
              <a:t>)</a:t>
            </a:r>
            <a:endParaRPr lang="ar-SA" altLang="ar-SA" b="0" dirty="0">
              <a:solidFill>
                <a:srgbClr val="00B050"/>
              </a:solidFill>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42AF0E06-5083-0B8C-5F2B-065160B3412E}"/>
              </a:ext>
            </a:extLst>
          </p:cNvPr>
          <p:cNvSpPr>
            <a:spLocks noGrp="1" noChangeArrowheads="1"/>
          </p:cNvSpPr>
          <p:nvPr>
            <p:ph sz="half" idx="1"/>
          </p:nvPr>
        </p:nvSpPr>
        <p:spPr bwMode="auto">
          <a:xfrm>
            <a:off x="7315200" y="1905506"/>
            <a:ext cx="420954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التحليل يظهر أن بعض الموظفين لديهم عدد طلبات أقل ولكن قيمة مالية أعلى (يبيعون أجهزة غالية)</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توجيه هؤلاء الموظفين المتخصصين في "البيع الغالي" للتعامل مع كبار العملاء</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VIPs</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8" name="صورة 7">
            <a:extLst>
              <a:ext uri="{FF2B5EF4-FFF2-40B4-BE49-F238E27FC236}">
                <a16:creationId xmlns:a16="http://schemas.microsoft.com/office/drawing/2014/main" id="{D425B56C-CE83-6C49-AE5B-F30C204F8E30}"/>
              </a:ext>
            </a:extLst>
          </p:cNvPr>
          <p:cNvPicPr>
            <a:picLocks noChangeAspect="1"/>
          </p:cNvPicPr>
          <p:nvPr/>
        </p:nvPicPr>
        <p:blipFill>
          <a:blip r:embed="rId2"/>
          <a:stretch>
            <a:fillRect/>
          </a:stretch>
        </p:blipFill>
        <p:spPr>
          <a:xfrm>
            <a:off x="231345" y="1699110"/>
            <a:ext cx="7126492" cy="3797450"/>
          </a:xfrm>
          <a:prstGeom prst="rect">
            <a:avLst/>
          </a:prstGeom>
        </p:spPr>
      </p:pic>
    </p:spTree>
    <p:extLst>
      <p:ext uri="{BB962C8B-B14F-4D97-AF65-F5344CB8AC3E}">
        <p14:creationId xmlns:p14="http://schemas.microsoft.com/office/powerpoint/2010/main" val="2621317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4167D-458F-6D86-55FF-9B17CED61E0C}"/>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06D09CF7-FCC6-ED40-D154-001AC882D674}"/>
              </a:ext>
            </a:extLst>
          </p:cNvPr>
          <p:cNvSpPr>
            <a:spLocks noGrp="1"/>
          </p:cNvSpPr>
          <p:nvPr>
            <p:ph type="title"/>
          </p:nvPr>
        </p:nvSpPr>
        <p:spPr>
          <a:xfrm flipH="1">
            <a:off x="1923548" y="370681"/>
            <a:ext cx="9601200" cy="701358"/>
          </a:xfrm>
        </p:spPr>
        <p:txBody>
          <a:bodyPr>
            <a:normAutofit/>
          </a:bodyPr>
          <a:lstStyle/>
          <a:p>
            <a:pPr algn="just">
              <a:buClr>
                <a:schemeClr val="tx2"/>
              </a:buClr>
            </a:pPr>
            <a:r>
              <a:rPr lang="ar-SA" dirty="0">
                <a:solidFill>
                  <a:srgbClr val="00B050"/>
                </a:solidFill>
                <a:latin typeface="Arial" panose="020B0604020202020204" pitchFamily="34" charset="0"/>
                <a:cs typeface="Arial" panose="020B0604020202020204" pitchFamily="34" charset="0"/>
              </a:rPr>
              <a:t>التوازن الجغرافي للموظفين</a:t>
            </a:r>
            <a:endParaRPr lang="ar-SA" altLang="ar-SA" b="0" dirty="0">
              <a:solidFill>
                <a:srgbClr val="00B050"/>
              </a:solidFill>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D7742CEF-3B18-62F9-9385-E8396B7201B1}"/>
              </a:ext>
            </a:extLst>
          </p:cNvPr>
          <p:cNvSpPr>
            <a:spLocks noGrp="1" noChangeArrowheads="1"/>
          </p:cNvSpPr>
          <p:nvPr>
            <p:ph sz="half" idx="1"/>
          </p:nvPr>
        </p:nvSpPr>
        <p:spPr bwMode="auto">
          <a:xfrm>
            <a:off x="2875280" y="1583960"/>
            <a:ext cx="85140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هل الموظفون المتميزون موجودون فقط في فرع الإسكندرية؟ التحليل يظهر توزيعاً جيداً ولكن يحتاج لبعض الضبط</a:t>
            </a:r>
            <a:r>
              <a:rPr kumimoji="0" lang="ar-SA" altLang="ar-SA" sz="2400" b="0" i="0" u="none" strike="noStrike" cap="none" normalizeH="0" baseline="0" dirty="0">
                <a:ln>
                  <a:noFill/>
                </a:ln>
                <a:solidFill>
                  <a:schemeClr val="tx1"/>
                </a:solidFill>
                <a:effectLst/>
                <a:latin typeface="Arial" panose="020B0604020202020204" pitchFamily="34" charset="0"/>
              </a:rPr>
              <a:t>.</a:t>
            </a:r>
          </a:p>
          <a:p>
            <a:pPr algn="just" eaLnBrk="0" fontAlgn="base" hangingPunct="0">
              <a:lnSpc>
                <a:spcPct val="100000"/>
              </a:lnSpc>
              <a:spcBef>
                <a:spcPct val="0"/>
              </a:spcBef>
              <a:spcAft>
                <a:spcPct val="0"/>
              </a:spcAft>
              <a:buClrTx/>
              <a:buSzTx/>
              <a:buFont typeface="Arial" panose="020B0604020202020204" pitchFamily="34" charset="0"/>
              <a:buChar char="•"/>
            </a:pPr>
            <a:endParaRPr lang="ar-SA" altLang="ar-SA" sz="2400" dirty="0">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buClrTx/>
              <a:buSzTx/>
              <a:buFont typeface="Arial" panose="020B0604020202020204" pitchFamily="34" charset="0"/>
              <a:buChar char="•"/>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عمل نظام "تدوير" للموظفين المتميزين لزيارة الفروع الأقل أداءً لنشر روح الحماس</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513891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B9E44-29BE-D467-5CE5-00379DF93CDC}"/>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D7941B31-91F1-9E00-C6B6-073178455D77}"/>
              </a:ext>
            </a:extLst>
          </p:cNvPr>
          <p:cNvSpPr>
            <a:spLocks noGrp="1"/>
          </p:cNvSpPr>
          <p:nvPr>
            <p:ph type="title"/>
          </p:nvPr>
        </p:nvSpPr>
        <p:spPr>
          <a:xfrm flipH="1">
            <a:off x="1923548" y="370681"/>
            <a:ext cx="9601200" cy="701358"/>
          </a:xfrm>
        </p:spPr>
        <p:txBody>
          <a:bodyPr>
            <a:normAutofit/>
          </a:bodyPr>
          <a:lstStyle/>
          <a:p>
            <a:pPr algn="just">
              <a:buClr>
                <a:schemeClr val="tx2"/>
              </a:buClr>
            </a:pPr>
            <a:r>
              <a:rPr lang="ar-SA" dirty="0">
                <a:solidFill>
                  <a:srgbClr val="00B050"/>
                </a:solidFill>
                <a:latin typeface="Arial" panose="020B0604020202020204" pitchFamily="34" charset="0"/>
                <a:cs typeface="Arial" panose="020B0604020202020204" pitchFamily="34" charset="0"/>
              </a:rPr>
              <a:t>تحليل العمولات والإنتاجية</a:t>
            </a:r>
            <a:endParaRPr lang="ar-SA" altLang="ar-SA" b="0" dirty="0">
              <a:solidFill>
                <a:srgbClr val="00B050"/>
              </a:solidFill>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7E181214-8F6A-7E86-DE1C-70B927128922}"/>
              </a:ext>
            </a:extLst>
          </p:cNvPr>
          <p:cNvSpPr>
            <a:spLocks noGrp="1" noChangeArrowheads="1"/>
          </p:cNvSpPr>
          <p:nvPr>
            <p:ph sz="half" idx="1"/>
          </p:nvPr>
        </p:nvSpPr>
        <p:spPr bwMode="auto">
          <a:xfrm>
            <a:off x="2875280" y="1630127"/>
            <a:ext cx="8514080"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Clr>
                <a:srgbClr val="00B050"/>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الشرح:</a:t>
            </a:r>
            <a:r>
              <a:rPr lang="ar-SA" sz="2400" dirty="0">
                <a:latin typeface="Arial" panose="020B0604020202020204" pitchFamily="34" charset="0"/>
                <a:cs typeface="Arial" panose="020B0604020202020204" pitchFamily="34" charset="0"/>
              </a:rPr>
              <a:t> ربط الجهد بالنتيجة. الموظفون الذين يحققون أرقاماً صعبة يستحقون حوافز استثنائية.</a:t>
            </a:r>
          </a:p>
          <a:p>
            <a:pPr algn="just">
              <a:buClr>
                <a:srgbClr val="00B050"/>
              </a:buClr>
              <a:buFont typeface="Arial" panose="020B0604020202020204" pitchFamily="34" charset="0"/>
              <a:buChar char="•"/>
            </a:pPr>
            <a:endParaRPr lang="ar-SA" sz="2400" dirty="0">
              <a:latin typeface="Arial" panose="020B0604020202020204" pitchFamily="34" charset="0"/>
              <a:cs typeface="Arial" panose="020B0604020202020204" pitchFamily="34" charset="0"/>
            </a:endParaRPr>
          </a:p>
          <a:p>
            <a:pPr algn="just">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الاقتراح:</a:t>
            </a:r>
            <a:r>
              <a:rPr lang="ar-SA" sz="2400" dirty="0">
                <a:latin typeface="Arial" panose="020B0604020202020204" pitchFamily="34" charset="0"/>
                <a:cs typeface="Arial" panose="020B0604020202020204" pitchFamily="34" charset="0"/>
              </a:rPr>
              <a:t> جعل جزء من العمولة مرتبطاً بـ "رضا العميل" (</a:t>
            </a:r>
            <a:r>
              <a:rPr lang="en-US" sz="2400" dirty="0">
                <a:latin typeface="Arial" panose="020B0604020202020204" pitchFamily="34" charset="0"/>
                <a:cs typeface="Arial" panose="020B0604020202020204" pitchFamily="34" charset="0"/>
              </a:rPr>
              <a:t>NPS</a:t>
            </a:r>
            <a:r>
              <a:rPr lang="ar-SA" sz="2400" dirty="0">
                <a:latin typeface="Arial" panose="020B0604020202020204" pitchFamily="34" charset="0"/>
                <a:cs typeface="Arial" panose="020B0604020202020204" pitchFamily="34" charset="0"/>
              </a:rPr>
              <a:t>) وليس فقط قيمة الفاتورة.</a:t>
            </a:r>
          </a:p>
        </p:txBody>
      </p:sp>
    </p:spTree>
    <p:extLst>
      <p:ext uri="{BB962C8B-B14F-4D97-AF65-F5344CB8AC3E}">
        <p14:creationId xmlns:p14="http://schemas.microsoft.com/office/powerpoint/2010/main" val="109814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7661A-596D-0CAC-A753-E8F873E5A400}"/>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20C7B1AA-4642-0863-058C-10E5417FA2D3}"/>
              </a:ext>
            </a:extLst>
          </p:cNvPr>
          <p:cNvSpPr>
            <a:spLocks noGrp="1"/>
          </p:cNvSpPr>
          <p:nvPr>
            <p:ph type="title"/>
          </p:nvPr>
        </p:nvSpPr>
        <p:spPr>
          <a:xfrm flipH="1">
            <a:off x="1923548" y="370681"/>
            <a:ext cx="9601200" cy="701358"/>
          </a:xfrm>
        </p:spPr>
        <p:txBody>
          <a:bodyPr/>
          <a:lstStyle/>
          <a:p>
            <a:r>
              <a:rPr lang="ar-SA" dirty="0">
                <a:solidFill>
                  <a:srgbClr val="00B050"/>
                </a:solidFill>
                <a:latin typeface="Arial" panose="020B0604020202020204" pitchFamily="34" charset="0"/>
                <a:cs typeface="Arial" panose="020B0604020202020204" pitchFamily="34" charset="0"/>
              </a:rPr>
              <a:t>لوحة تحليل الموظفين (</a:t>
            </a:r>
            <a:r>
              <a:rPr lang="en-US" dirty="0">
                <a:solidFill>
                  <a:srgbClr val="00B050"/>
                </a:solidFill>
                <a:latin typeface="Arial" panose="020B0604020202020204" pitchFamily="34" charset="0"/>
                <a:cs typeface="Arial" panose="020B0604020202020204" pitchFamily="34" charset="0"/>
              </a:rPr>
              <a:t>Employees</a:t>
            </a:r>
            <a:r>
              <a:rPr lang="ar-SA" dirty="0">
                <a:solidFill>
                  <a:srgbClr val="00B050"/>
                </a:solidFill>
                <a:latin typeface="Arial" panose="020B0604020202020204" pitchFamily="34" charset="0"/>
                <a:cs typeface="Arial" panose="020B0604020202020204" pitchFamily="34" charset="0"/>
              </a:rPr>
              <a:t>)</a:t>
            </a:r>
          </a:p>
        </p:txBody>
      </p:sp>
      <p:pic>
        <p:nvPicPr>
          <p:cNvPr id="4" name="صورة 3">
            <a:extLst>
              <a:ext uri="{FF2B5EF4-FFF2-40B4-BE49-F238E27FC236}">
                <a16:creationId xmlns:a16="http://schemas.microsoft.com/office/drawing/2014/main" id="{443F3844-E4B1-D7A0-193C-08CD15A07020}"/>
              </a:ext>
            </a:extLst>
          </p:cNvPr>
          <p:cNvPicPr>
            <a:picLocks noChangeAspect="1"/>
          </p:cNvPicPr>
          <p:nvPr/>
        </p:nvPicPr>
        <p:blipFill>
          <a:blip r:embed="rId2"/>
          <a:stretch>
            <a:fillRect/>
          </a:stretch>
        </p:blipFill>
        <p:spPr>
          <a:xfrm>
            <a:off x="1253070" y="1072038"/>
            <a:ext cx="9685859" cy="5104209"/>
          </a:xfrm>
          <a:prstGeom prst="rect">
            <a:avLst/>
          </a:prstGeom>
        </p:spPr>
      </p:pic>
    </p:spTree>
    <p:extLst>
      <p:ext uri="{BB962C8B-B14F-4D97-AF65-F5344CB8AC3E}">
        <p14:creationId xmlns:p14="http://schemas.microsoft.com/office/powerpoint/2010/main" val="219153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50"/>
            </a:gs>
            <a:gs pos="97000">
              <a:srgbClr val="00B050"/>
            </a:gs>
          </a:gsLst>
          <a:path path="circle">
            <a:fillToRect l="50000" t="50000" r="50000" b="50000"/>
          </a:path>
          <a:tileRect/>
        </a:gradFill>
        <a:effectLst/>
      </p:bgPr>
    </p:bg>
    <p:spTree>
      <p:nvGrpSpPr>
        <p:cNvPr id="1" name="">
          <a:extLst>
            <a:ext uri="{FF2B5EF4-FFF2-40B4-BE49-F238E27FC236}">
              <a16:creationId xmlns:a16="http://schemas.microsoft.com/office/drawing/2014/main" id="{376420F2-B0ED-5055-6570-0BF73F54602C}"/>
            </a:ext>
          </a:extLst>
        </p:cNvPr>
        <p:cNvGrpSpPr/>
        <p:nvPr/>
      </p:nvGrpSpPr>
      <p:grpSpPr>
        <a:xfrm>
          <a:off x="0" y="0"/>
          <a:ext cx="0" cy="0"/>
          <a:chOff x="0" y="0"/>
          <a:chExt cx="0" cy="0"/>
        </a:xfrm>
      </p:grpSpPr>
      <p:sp>
        <p:nvSpPr>
          <p:cNvPr id="4" name="عنوان 3">
            <a:extLst>
              <a:ext uri="{FF2B5EF4-FFF2-40B4-BE49-F238E27FC236}">
                <a16:creationId xmlns:a16="http://schemas.microsoft.com/office/drawing/2014/main" id="{E7D705FF-0BE9-DD4D-AE95-B6241AA3B7A3}"/>
              </a:ext>
            </a:extLst>
          </p:cNvPr>
          <p:cNvSpPr>
            <a:spLocks noGrp="1"/>
          </p:cNvSpPr>
          <p:nvPr>
            <p:ph type="title"/>
          </p:nvPr>
        </p:nvSpPr>
        <p:spPr/>
        <p:txBody>
          <a:bodyPr/>
          <a:lstStyle/>
          <a:p>
            <a:r>
              <a:rPr lang="ar-SA" dirty="0">
                <a:latin typeface="Arial" panose="020B0604020202020204" pitchFamily="34" charset="0"/>
                <a:cs typeface="Arial" panose="020B0604020202020204" pitchFamily="34" charset="0"/>
              </a:rPr>
              <a:t>الجزء الخامس: قسم التنبؤات والذكاء الاصطناعي </a:t>
            </a:r>
          </a:p>
        </p:txBody>
      </p:sp>
    </p:spTree>
    <p:extLst>
      <p:ext uri="{BB962C8B-B14F-4D97-AF65-F5344CB8AC3E}">
        <p14:creationId xmlns:p14="http://schemas.microsoft.com/office/powerpoint/2010/main" val="195260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3B5E-C303-F230-3E66-BA5FC973F7FA}"/>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21326F20-4A29-B981-2226-ED6F26139C38}"/>
              </a:ext>
            </a:extLst>
          </p:cNvPr>
          <p:cNvSpPr>
            <a:spLocks noGrp="1"/>
          </p:cNvSpPr>
          <p:nvPr>
            <p:ph type="title"/>
          </p:nvPr>
        </p:nvSpPr>
        <p:spPr>
          <a:xfrm flipH="1">
            <a:off x="1923548" y="370681"/>
            <a:ext cx="9601200" cy="701358"/>
          </a:xfrm>
        </p:spPr>
        <p:txBody>
          <a:bodyPr>
            <a:normAutofit/>
          </a:bodyPr>
          <a:lstStyle/>
          <a:p>
            <a:pPr algn="just">
              <a:buClr>
                <a:schemeClr val="tx2"/>
              </a:buClr>
            </a:pPr>
            <a:r>
              <a:rPr lang="ar-SA" dirty="0">
                <a:solidFill>
                  <a:srgbClr val="00B050"/>
                </a:solidFill>
                <a:latin typeface="Arial" panose="020B0604020202020204" pitchFamily="34" charset="0"/>
                <a:cs typeface="Arial" panose="020B0604020202020204" pitchFamily="34" charset="0"/>
              </a:rPr>
              <a:t>توقعات 2026 (</a:t>
            </a:r>
            <a:r>
              <a:rPr lang="en-US" dirty="0">
                <a:solidFill>
                  <a:srgbClr val="00B050"/>
                </a:solidFill>
                <a:latin typeface="Arial" panose="020B0604020202020204" pitchFamily="34" charset="0"/>
                <a:cs typeface="Arial" panose="020B0604020202020204" pitchFamily="34" charset="0"/>
              </a:rPr>
              <a:t>(The 17.4 Million Goal</a:t>
            </a:r>
            <a:endParaRPr lang="ar-SA" altLang="ar-SA" b="0" dirty="0">
              <a:solidFill>
                <a:srgbClr val="00B050"/>
              </a:solidFill>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3E5F2929-ABB7-A39C-5422-A92F7288FC2E}"/>
              </a:ext>
            </a:extLst>
          </p:cNvPr>
          <p:cNvSpPr>
            <a:spLocks noGrp="1" noChangeArrowheads="1"/>
          </p:cNvSpPr>
          <p:nvPr>
            <p:ph sz="half" idx="1"/>
          </p:nvPr>
        </p:nvSpPr>
        <p:spPr bwMode="auto">
          <a:xfrm>
            <a:off x="7315200" y="1536176"/>
            <a:ext cx="420954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لشرح: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باستخدام نموذج</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err="1">
                <a:ln>
                  <a:noFill/>
                </a:ln>
                <a:solidFill>
                  <a:schemeClr val="tx1"/>
                </a:solidFill>
                <a:effectLst/>
                <a:latin typeface="Arial" panose="020B0604020202020204" pitchFamily="34" charset="0"/>
              </a:rPr>
              <a:t>Holt-Winters</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قمنا برسم المسار المستقبلي. نتوقع مبيعات تصل لـ 17.4 مليون جنيه في 2026. هذا ليس تخميناً، بل حسابات رياضية بناءً على نمو 2023-2025</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الاقتراح:</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عرض هذا الرقم على البنوك للحصول على تسهيلات ائتمانية بضمان النمو المتوقع</a:t>
            </a:r>
            <a:r>
              <a:rPr kumimoji="0" lang="ar-SA" altLang="ar-SA" sz="2400" b="0" i="0" u="none" strike="noStrike" cap="none" normalizeH="0" baseline="0" dirty="0">
                <a:ln>
                  <a:noFill/>
                </a:ln>
                <a:solidFill>
                  <a:schemeClr val="tx1"/>
                </a:solidFill>
                <a:effectLst/>
                <a:latin typeface="Arial" panose="020B0604020202020204" pitchFamily="34" charset="0"/>
              </a:rPr>
              <a:t>.</a:t>
            </a:r>
          </a:p>
        </p:txBody>
      </p:sp>
      <p:pic>
        <p:nvPicPr>
          <p:cNvPr id="7" name="صورة 6">
            <a:extLst>
              <a:ext uri="{FF2B5EF4-FFF2-40B4-BE49-F238E27FC236}">
                <a16:creationId xmlns:a16="http://schemas.microsoft.com/office/drawing/2014/main" id="{9372C69E-ED85-849A-F9FB-B17A271FB7A8}"/>
              </a:ext>
            </a:extLst>
          </p:cNvPr>
          <p:cNvPicPr>
            <a:picLocks noChangeAspect="1"/>
          </p:cNvPicPr>
          <p:nvPr/>
        </p:nvPicPr>
        <p:blipFill>
          <a:blip r:embed="rId2"/>
          <a:stretch>
            <a:fillRect/>
          </a:stretch>
        </p:blipFill>
        <p:spPr>
          <a:xfrm>
            <a:off x="579120" y="1443672"/>
            <a:ext cx="6604000" cy="4327208"/>
          </a:xfrm>
          <a:prstGeom prst="rect">
            <a:avLst/>
          </a:prstGeom>
        </p:spPr>
      </p:pic>
    </p:spTree>
    <p:extLst>
      <p:ext uri="{BB962C8B-B14F-4D97-AF65-F5344CB8AC3E}">
        <p14:creationId xmlns:p14="http://schemas.microsoft.com/office/powerpoint/2010/main" val="29145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B50A8-0E7A-E007-EBE6-63D6815EAC92}"/>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5ED264C0-A6C2-828A-37B6-1184F7FD49A2}"/>
              </a:ext>
            </a:extLst>
          </p:cNvPr>
          <p:cNvSpPr>
            <a:spLocks noGrp="1"/>
          </p:cNvSpPr>
          <p:nvPr>
            <p:ph type="title"/>
          </p:nvPr>
        </p:nvSpPr>
        <p:spPr>
          <a:xfrm flipH="1">
            <a:off x="1923548" y="370681"/>
            <a:ext cx="9601200" cy="701358"/>
          </a:xfrm>
        </p:spPr>
        <p:txBody>
          <a:bodyPr>
            <a:normAutofit/>
          </a:bodyPr>
          <a:lstStyle/>
          <a:p>
            <a:r>
              <a:rPr lang="ar-SA" dirty="0">
                <a:solidFill>
                  <a:srgbClr val="00B050"/>
                </a:solidFill>
                <a:latin typeface="Arial" panose="020B0604020202020204" pitchFamily="34" charset="0"/>
                <a:cs typeface="Arial" panose="020B0604020202020204" pitchFamily="34" charset="0"/>
              </a:rPr>
              <a:t>لتنبؤ الكمي للمخازن (</a:t>
            </a:r>
            <a:r>
              <a:rPr lang="en-US" dirty="0">
                <a:solidFill>
                  <a:srgbClr val="00B050"/>
                </a:solidFill>
                <a:latin typeface="Arial" panose="020B0604020202020204" pitchFamily="34" charset="0"/>
                <a:cs typeface="Arial" panose="020B0604020202020204" pitchFamily="34" charset="0"/>
              </a:rPr>
              <a:t>Inventory Prediction</a:t>
            </a:r>
            <a:r>
              <a:rPr lang="ar-SA" dirty="0">
                <a:solidFill>
                  <a:srgbClr val="00B050"/>
                </a:solidFill>
                <a:latin typeface="Arial" panose="020B0604020202020204" pitchFamily="34" charset="0"/>
                <a:cs typeface="Arial" panose="020B0604020202020204" pitchFamily="34" charset="0"/>
              </a:rPr>
              <a:t>)</a:t>
            </a:r>
            <a:endParaRPr lang="en-US" dirty="0">
              <a:solidFill>
                <a:srgbClr val="00B050"/>
              </a:solidFill>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44A2E22D-7BB1-D8AD-3514-743BC2744E86}"/>
              </a:ext>
            </a:extLst>
          </p:cNvPr>
          <p:cNvSpPr>
            <a:spLocks noGrp="1" noChangeArrowheads="1"/>
          </p:cNvSpPr>
          <p:nvPr>
            <p:ph sz="half" idx="1"/>
          </p:nvPr>
        </p:nvSpPr>
        <p:spPr bwMode="auto">
          <a:xfrm>
            <a:off x="7315200" y="1988606"/>
            <a:ext cx="4209548" cy="2880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الشرح:</a:t>
            </a:r>
            <a:r>
              <a:rPr lang="ar-SA" sz="2400" dirty="0">
                <a:latin typeface="Arial" panose="020B0604020202020204" pitchFamily="34" charset="0"/>
                <a:cs typeface="Arial" panose="020B0604020202020204" pitchFamily="34" charset="0"/>
              </a:rPr>
              <a:t> الذكاء الاصطناعي حدد بالضبط كم نحتاج من المكاوي (211) والتلفزيونات (193).</a:t>
            </a:r>
          </a:p>
          <a:p>
            <a:pPr algn="just">
              <a:buClr>
                <a:schemeClr val="tx1"/>
              </a:buClr>
              <a:buFont typeface="Arial" panose="020B0604020202020204" pitchFamily="34" charset="0"/>
              <a:buChar char="•"/>
            </a:pPr>
            <a:endParaRPr lang="ar-SA" sz="2400" dirty="0">
              <a:latin typeface="Arial" panose="020B0604020202020204" pitchFamily="34" charset="0"/>
              <a:cs typeface="Arial" panose="020B0604020202020204" pitchFamily="34" charset="0"/>
            </a:endParaRPr>
          </a:p>
          <a:p>
            <a:pPr algn="just">
              <a:buClr>
                <a:schemeClr val="tx1"/>
              </a:buClr>
              <a:buFont typeface="Arial" panose="020B0604020202020204" pitchFamily="34" charset="0"/>
              <a:buChar char="•"/>
            </a:pPr>
            <a:r>
              <a:rPr lang="ar-SA" sz="2400" b="1" dirty="0">
                <a:latin typeface="Arial" panose="020B0604020202020204" pitchFamily="34" charset="0"/>
                <a:cs typeface="Arial" panose="020B0604020202020204" pitchFamily="34" charset="0"/>
              </a:rPr>
              <a:t>الاقتراح:</a:t>
            </a:r>
            <a:r>
              <a:rPr lang="ar-SA" sz="2400" dirty="0">
                <a:latin typeface="Arial" panose="020B0604020202020204" pitchFamily="34" charset="0"/>
                <a:cs typeface="Arial" panose="020B0604020202020204" pitchFamily="34" charset="0"/>
              </a:rPr>
              <a:t> البدء في حجز هذه الكميات من الموردين بأسعار اليوم لتجنب التضخم القادم.</a:t>
            </a:r>
          </a:p>
        </p:txBody>
      </p:sp>
      <p:pic>
        <p:nvPicPr>
          <p:cNvPr id="4" name="صورة 3">
            <a:extLst>
              <a:ext uri="{FF2B5EF4-FFF2-40B4-BE49-F238E27FC236}">
                <a16:creationId xmlns:a16="http://schemas.microsoft.com/office/drawing/2014/main" id="{81039DBE-DDF1-5CC5-26F5-603B4F47B6BE}"/>
              </a:ext>
            </a:extLst>
          </p:cNvPr>
          <p:cNvPicPr>
            <a:picLocks noChangeAspect="1"/>
          </p:cNvPicPr>
          <p:nvPr/>
        </p:nvPicPr>
        <p:blipFill>
          <a:blip r:embed="rId2"/>
          <a:stretch>
            <a:fillRect/>
          </a:stretch>
        </p:blipFill>
        <p:spPr>
          <a:xfrm>
            <a:off x="345440" y="1483042"/>
            <a:ext cx="6827520" cy="4135438"/>
          </a:xfrm>
          <a:prstGeom prst="rect">
            <a:avLst/>
          </a:prstGeom>
        </p:spPr>
      </p:pic>
    </p:spTree>
    <p:extLst>
      <p:ext uri="{BB962C8B-B14F-4D97-AF65-F5344CB8AC3E}">
        <p14:creationId xmlns:p14="http://schemas.microsoft.com/office/powerpoint/2010/main" val="257851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50"/>
            </a:gs>
            <a:gs pos="97000">
              <a:srgbClr val="00B050"/>
            </a:gs>
          </a:gsLst>
          <a:path path="circle">
            <a:fillToRect l="50000" t="50000" r="50000" b="50000"/>
          </a:path>
          <a:tileRect/>
        </a:gradFill>
        <a:effectLst/>
      </p:bgPr>
    </p:bg>
    <p:spTree>
      <p:nvGrpSpPr>
        <p:cNvPr id="1" name="">
          <a:extLst>
            <a:ext uri="{FF2B5EF4-FFF2-40B4-BE49-F238E27FC236}">
              <a16:creationId xmlns:a16="http://schemas.microsoft.com/office/drawing/2014/main" id="{D0821316-6DB5-B82B-78F9-F2C34AC0DE5C}"/>
            </a:ext>
          </a:extLst>
        </p:cNvPr>
        <p:cNvGrpSpPr/>
        <p:nvPr/>
      </p:nvGrpSpPr>
      <p:grpSpPr>
        <a:xfrm>
          <a:off x="0" y="0"/>
          <a:ext cx="0" cy="0"/>
          <a:chOff x="0" y="0"/>
          <a:chExt cx="0" cy="0"/>
        </a:xfrm>
      </p:grpSpPr>
      <p:sp>
        <p:nvSpPr>
          <p:cNvPr id="4" name="عنوان 3">
            <a:extLst>
              <a:ext uri="{FF2B5EF4-FFF2-40B4-BE49-F238E27FC236}">
                <a16:creationId xmlns:a16="http://schemas.microsoft.com/office/drawing/2014/main" id="{7598CAA2-BA09-FC3D-0EEE-574FDAC4B5A6}"/>
              </a:ext>
            </a:extLst>
          </p:cNvPr>
          <p:cNvSpPr>
            <a:spLocks noGrp="1"/>
          </p:cNvSpPr>
          <p:nvPr>
            <p:ph type="title"/>
          </p:nvPr>
        </p:nvSpPr>
        <p:spPr/>
        <p:txBody>
          <a:bodyPr/>
          <a:lstStyle/>
          <a:p>
            <a:r>
              <a:rPr lang="ar-SA" dirty="0">
                <a:latin typeface="Almarai" pitchFamily="2" charset="-78"/>
                <a:cs typeface="Almarai" pitchFamily="2" charset="-78"/>
              </a:rPr>
              <a:t>الجزء السادس : الخاتمة الاستراتيجية </a:t>
            </a:r>
          </a:p>
        </p:txBody>
      </p:sp>
    </p:spTree>
    <p:extLst>
      <p:ext uri="{BB962C8B-B14F-4D97-AF65-F5344CB8AC3E}">
        <p14:creationId xmlns:p14="http://schemas.microsoft.com/office/powerpoint/2010/main" val="268712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2C8F-7A9C-12AB-F2B6-E063CD7E2E0E}"/>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7C5E1750-0364-11E0-F85F-D584E8DAD199}"/>
              </a:ext>
            </a:extLst>
          </p:cNvPr>
          <p:cNvSpPr>
            <a:spLocks noGrp="1"/>
          </p:cNvSpPr>
          <p:nvPr>
            <p:ph type="title"/>
          </p:nvPr>
        </p:nvSpPr>
        <p:spPr>
          <a:xfrm flipH="1">
            <a:off x="1923548" y="370681"/>
            <a:ext cx="9601200" cy="701358"/>
          </a:xfrm>
        </p:spPr>
        <p:txBody>
          <a:bodyPr>
            <a:normAutofit/>
          </a:bodyPr>
          <a:lstStyle/>
          <a:p>
            <a:r>
              <a:rPr lang="ar-SA" dirty="0">
                <a:solidFill>
                  <a:srgbClr val="00B050"/>
                </a:solidFill>
                <a:latin typeface="Arial" panose="020B0604020202020204" pitchFamily="34" charset="0"/>
                <a:cs typeface="Arial" panose="020B0604020202020204" pitchFamily="34" charset="0"/>
              </a:rPr>
              <a:t>الرؤية الاستراتيجية 2026 (</a:t>
            </a:r>
            <a:r>
              <a:rPr lang="en-US" dirty="0">
                <a:solidFill>
                  <a:srgbClr val="00B050"/>
                </a:solidFill>
                <a:latin typeface="Arial" panose="020B0604020202020204" pitchFamily="34" charset="0"/>
                <a:cs typeface="Arial" panose="020B0604020202020204" pitchFamily="34" charset="0"/>
              </a:rPr>
              <a:t>(The Road Map</a:t>
            </a:r>
          </a:p>
        </p:txBody>
      </p:sp>
      <p:sp>
        <p:nvSpPr>
          <p:cNvPr id="6" name="Rectangle 2">
            <a:extLst>
              <a:ext uri="{FF2B5EF4-FFF2-40B4-BE49-F238E27FC236}">
                <a16:creationId xmlns:a16="http://schemas.microsoft.com/office/drawing/2014/main" id="{503C321E-59C3-D6FF-0C5F-1534359D23DB}"/>
              </a:ext>
            </a:extLst>
          </p:cNvPr>
          <p:cNvSpPr>
            <a:spLocks noGrp="1" noChangeArrowheads="1"/>
          </p:cNvSpPr>
          <p:nvPr>
            <p:ph sz="half" idx="1"/>
          </p:nvPr>
        </p:nvSpPr>
        <p:spPr bwMode="auto">
          <a:xfrm>
            <a:off x="2794000" y="1166845"/>
            <a:ext cx="87307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الشرح المفصل:</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هذه الشريحة هي خاتمة الأثر. توضح أننا انتقلنا من مجرد "تسجيل فواتير" إلى "استشراف مستقبل</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eaLnBrk="0" fontAlgn="base" latinLnBrk="0" hangingPunct="0">
              <a:lnSpc>
                <a:spcPct val="100000"/>
              </a:lnSpc>
              <a:spcBef>
                <a:spcPct val="0"/>
              </a:spcBef>
              <a:spcAft>
                <a:spcPct val="0"/>
              </a:spcAft>
              <a:buClrTx/>
              <a:buSzTx/>
              <a:buNone/>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الأثر:</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البيانات أكدت أن فرع الإسكندرية هو القلب النابض، وأن السعر هو المحرك، وأن عام 2026 يحمل فرصة نمو بنسبة هائلة</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الخلاصة:</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نحن نمتلك فريقاً قوياً، وقاعدة عملاء في الصعيد يجب استغلالها، ونماذج تنبؤية تحمينا من المفاجآت</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الرسالة النهائية:</a:t>
            </a:r>
            <a:r>
              <a:rPr kumimoji="0" lang="ar-SA" altLang="ar-SA" sz="2400" b="0" i="0" u="none" strike="noStrike" cap="none" normalizeH="0" baseline="0" dirty="0">
                <a:ln>
                  <a:noFill/>
                </a:ln>
                <a:solidFill>
                  <a:schemeClr val="tx1"/>
                </a:solidFill>
                <a:effectLst/>
                <a:latin typeface="Arial" panose="020B0604020202020204" pitchFamily="34" charset="0"/>
              </a:rPr>
              <a:t> "</a:t>
            </a:r>
            <a:r>
              <a:rPr kumimoji="0" lang="ar-SA" altLang="ar-SA"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البيانات هي النفط الجديد، ونحن اليوم نمتلك المصفاة التي تحول هذا النفط إلى أرباح حقيقية</a:t>
            </a:r>
            <a:r>
              <a:rPr kumimoji="0" lang="ar-SA" altLang="ar-SA" sz="2400" b="0" i="0" u="none" strike="noStrike" cap="none" normalizeH="0" baseline="0" dirty="0">
                <a:ln>
                  <a:noFill/>
                </a:ln>
                <a:solidFill>
                  <a:schemeClr val="tx1"/>
                </a:solidFill>
                <a:effectLst/>
                <a:latin typeface="Arial" panose="020B0604020202020204" pitchFamily="34" charset="0"/>
              </a:rPr>
              <a:t>."</a:t>
            </a:r>
          </a:p>
          <a:p>
            <a:pPr marR="0" lvl="0" algn="just" defTabSz="91440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406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50"/>
            </a:gs>
            <a:gs pos="97000">
              <a:srgbClr val="00B050"/>
            </a:gs>
          </a:gsLst>
          <a:path path="circle">
            <a:fillToRect l="50000" t="50000" r="50000" b="50000"/>
          </a:path>
          <a:tileRect/>
        </a:gradFill>
        <a:effectLst/>
      </p:bgPr>
    </p:bg>
    <p:spTree>
      <p:nvGrpSpPr>
        <p:cNvPr id="1" name="">
          <a:extLst>
            <a:ext uri="{FF2B5EF4-FFF2-40B4-BE49-F238E27FC236}">
              <a16:creationId xmlns:a16="http://schemas.microsoft.com/office/drawing/2014/main" id="{F7A4AD8D-C51D-DF35-4548-FEED9307BB00}"/>
            </a:ext>
          </a:extLst>
        </p:cNvPr>
        <p:cNvGrpSpPr/>
        <p:nvPr/>
      </p:nvGrpSpPr>
      <p:grpSpPr>
        <a:xfrm>
          <a:off x="0" y="0"/>
          <a:ext cx="0" cy="0"/>
          <a:chOff x="0" y="0"/>
          <a:chExt cx="0" cy="0"/>
        </a:xfrm>
      </p:grpSpPr>
      <p:sp>
        <p:nvSpPr>
          <p:cNvPr id="4" name="عنوان 3">
            <a:extLst>
              <a:ext uri="{FF2B5EF4-FFF2-40B4-BE49-F238E27FC236}">
                <a16:creationId xmlns:a16="http://schemas.microsoft.com/office/drawing/2014/main" id="{DB45AC5F-E19D-A5EF-19AB-B3A766DA440A}"/>
              </a:ext>
            </a:extLst>
          </p:cNvPr>
          <p:cNvSpPr>
            <a:spLocks noGrp="1"/>
          </p:cNvSpPr>
          <p:nvPr>
            <p:ph type="title"/>
          </p:nvPr>
        </p:nvSpPr>
        <p:spPr>
          <a:xfrm flipH="1">
            <a:off x="1295400" y="2297733"/>
            <a:ext cx="9601200" cy="2743200"/>
          </a:xfrm>
        </p:spPr>
        <p:txBody>
          <a:bodyPr/>
          <a:lstStyle/>
          <a:p>
            <a:r>
              <a:rPr lang="ar-SA" dirty="0">
                <a:latin typeface="Almarai" pitchFamily="2" charset="-78"/>
                <a:cs typeface="Almarai" pitchFamily="2" charset="-78"/>
              </a:rPr>
              <a:t>شكراً لكم</a:t>
            </a:r>
          </a:p>
        </p:txBody>
      </p:sp>
    </p:spTree>
    <p:extLst>
      <p:ext uri="{BB962C8B-B14F-4D97-AF65-F5344CB8AC3E}">
        <p14:creationId xmlns:p14="http://schemas.microsoft.com/office/powerpoint/2010/main" val="192211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شبكة معين 16×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516_TF03031015" id="{08841590-1055-4C05-86CD-206160381043}" vid="{8722F83C-97AA-4FBC-AE54-B3588632E026}"/>
    </a:ext>
  </a:extLst>
</a:theme>
</file>

<file path=ppt/theme/theme2.xml><?xml version="1.0" encoding="utf-8"?>
<a:theme xmlns:a="http://schemas.openxmlformats.org/drawingml/2006/main" name="نسق Offic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نسق Offic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عرض تقديمي لشبكة معينات للأعمال (شاشة عريضة)</Template>
  <TotalTime>211</TotalTime>
  <Words>1295</Words>
  <Application>Microsoft Office PowerPoint</Application>
  <PresentationFormat>شاشة عريضة</PresentationFormat>
  <Paragraphs>124</Paragraphs>
  <Slides>35</Slides>
  <Notes>1</Notes>
  <HiddenSlides>0</HiddenSlides>
  <MMClips>0</MMClips>
  <ScaleCrop>false</ScaleCrop>
  <HeadingPairs>
    <vt:vector size="6" baseType="variant">
      <vt:variant>
        <vt:lpstr>الخطوط المستخدمة</vt:lpstr>
      </vt:variant>
      <vt:variant>
        <vt:i4>2</vt:i4>
      </vt:variant>
      <vt:variant>
        <vt:lpstr>نسق</vt:lpstr>
      </vt:variant>
      <vt:variant>
        <vt:i4>1</vt:i4>
      </vt:variant>
      <vt:variant>
        <vt:lpstr>عناوين الشرائح</vt:lpstr>
      </vt:variant>
      <vt:variant>
        <vt:i4>35</vt:i4>
      </vt:variant>
    </vt:vector>
  </HeadingPairs>
  <TitlesOfParts>
    <vt:vector size="38" baseType="lpstr">
      <vt:lpstr>Almarai</vt:lpstr>
      <vt:lpstr>Arial</vt:lpstr>
      <vt:lpstr>شبكة معين 16×9</vt:lpstr>
      <vt:lpstr>رؤية مستقبلية لشركة المستلزمات المنزلية: تحليل الأداء التاريخي وتوقعات النمو 2026.</vt:lpstr>
      <vt:lpstr>هيكل البيانات والمنهجية Data Intelligence))</vt:lpstr>
      <vt:lpstr>مؤشرات الأداء الرئيسية ((The Power of Numbers</vt:lpstr>
      <vt:lpstr>الجزء الأول : تحليل المبيعات Sales Deep Dive))</vt:lpstr>
      <vt:lpstr>تحليل عام الذروة (2024 - The Golden Year)</vt:lpstr>
      <vt:lpstr>الجغرافيا الشرائية (Branch Sales Leaderboard)</vt:lpstr>
      <vt:lpstr>تحليل المحافظات (Top Performing Cities)</vt:lpstr>
      <vt:lpstr>هيكل الدفع والسيولة (Payment Method Mix)</vt:lpstr>
      <vt:lpstr>كفاءة الدورة التشغيلية (Order Status)</vt:lpstr>
      <vt:lpstr>لوحة تحليل المبيعات (Sales_1)</vt:lpstr>
      <vt:lpstr>لوحة تحليل المبيعات (Sales_2)</vt:lpstr>
      <vt:lpstr>الجزء الثاني : تحليل المنتجات - Product Insights </vt:lpstr>
      <vt:lpstr>تحليل الفئات الاستراتيجية ((Product Categories</vt:lpstr>
      <vt:lpstr>المنتجات الـ "Stars" (Top Revenue)</vt:lpstr>
      <vt:lpstr>تحليل الكثافة الشرائية ((High Volume Items</vt:lpstr>
      <vt:lpstr>سيكولوجية الخصومات (Discount Impact Analysis)</vt:lpstr>
      <vt:lpstr>تحليل الارتباط (Basket Analysis)</vt:lpstr>
      <vt:lpstr>لوحة تحليل المنتجات (Products)</vt:lpstr>
      <vt:lpstr>الجزء الثالث : تحليل العملاء والمحركات </vt:lpstr>
      <vt:lpstr>محركات القرار (What Drives Sales?)</vt:lpstr>
      <vt:lpstr>ترند النمو الزمني (Seasonal Trends)</vt:lpstr>
      <vt:lpstr>تحليل الولاء (Customer Retention)</vt:lpstr>
      <vt:lpstr>لوحة تحليل العملاء (Customers)</vt:lpstr>
      <vt:lpstr>الجزء الرابع : تحليل الموظفين - Human Capital</vt:lpstr>
      <vt:lpstr>ترتيب التميز (Sales Force Ranking)</vt:lpstr>
      <vt:lpstr>كفاءة تحويل الطلبات (Efficiency Rate)</vt:lpstr>
      <vt:lpstr>التوازن الجغرافي للموظفين</vt:lpstr>
      <vt:lpstr>تحليل العمولات والإنتاجية</vt:lpstr>
      <vt:lpstr>لوحة تحليل الموظفين (Employees)</vt:lpstr>
      <vt:lpstr>الجزء الخامس: قسم التنبؤات والذكاء الاصطناعي </vt:lpstr>
      <vt:lpstr>توقعات 2026 ((The 17.4 Million Goal</vt:lpstr>
      <vt:lpstr>لتنبؤ الكمي للمخازن (Inventory Prediction)</vt:lpstr>
      <vt:lpstr>الجزء السادس : الخاتمة الاستراتيجية </vt:lpstr>
      <vt:lpstr>الرؤية الاستراتيجية 2026 ((The Road Map</vt:lpstr>
      <vt:lpstr>شكراً لكم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ِAbdullah Al_shreef</dc:creator>
  <cp:lastModifiedBy>ِAbdullah Al_shreef</cp:lastModifiedBy>
  <cp:revision>1</cp:revision>
  <dcterms:created xsi:type="dcterms:W3CDTF">2026-03-29T15:52:41Z</dcterms:created>
  <dcterms:modified xsi:type="dcterms:W3CDTF">2026-03-29T19:50:33Z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